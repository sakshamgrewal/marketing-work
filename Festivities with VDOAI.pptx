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  <p:embeddedFont>
      <p:font typeface="Canva Sans Bold" charset="1" panose="020B0803030501040103"/>
      <p:regular r:id="rId24"/>
    </p:embeddedFont>
    <p:embeddedFont>
      <p:font typeface="Montserrat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https://www.vdo.ai/sample/showcase/grt-dhanteras/story-telling-sample.php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6.png" Type="http://schemas.openxmlformats.org/officeDocument/2006/relationships/image"/><Relationship Id="rId8" Target="https://www.vdo.ai/creative-showcase/ctv-cadbury-bournville-ctv-carousel-gallery-qr-wrapper" TargetMode="External" Type="http://schemas.openxmlformats.org/officeDocument/2006/relationships/hyperlink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16" Target="../media/image32.png" Type="http://schemas.openxmlformats.org/officeDocument/2006/relationships/image"/><Relationship Id="rId17" Target="../media/image33.png" Type="http://schemas.openxmlformats.org/officeDocument/2006/relationships/image"/><Relationship Id="rId18" Target="../media/image34.png" Type="http://schemas.openxmlformats.org/officeDocument/2006/relationships/image"/><Relationship Id="rId19" Target="../media/image35.png" Type="http://schemas.openxmlformats.org/officeDocument/2006/relationships/image"/><Relationship Id="rId2" Target="../media/image18.png" Type="http://schemas.openxmlformats.org/officeDocument/2006/relationships/image"/><Relationship Id="rId20" Target="../media/image36.png" Type="http://schemas.openxmlformats.org/officeDocument/2006/relationships/image"/><Relationship Id="rId21" Target="../media/image37.png" Type="http://schemas.openxmlformats.org/officeDocument/2006/relationships/image"/><Relationship Id="rId22" Target="../media/image38.png" Type="http://schemas.openxmlformats.org/officeDocument/2006/relationships/image"/><Relationship Id="rId23" Target="../media/image39.png" Type="http://schemas.openxmlformats.org/officeDocument/2006/relationships/image"/><Relationship Id="rId24" Target="../media/image40.png" Type="http://schemas.openxmlformats.org/officeDocument/2006/relationships/image"/><Relationship Id="rId25" Target="../media/image41.png" Type="http://schemas.openxmlformats.org/officeDocument/2006/relationships/image"/><Relationship Id="rId26" Target="../media/image42.png" Type="http://schemas.openxmlformats.org/officeDocument/2006/relationships/image"/><Relationship Id="rId27" Target="../media/image3.png" Type="http://schemas.openxmlformats.org/officeDocument/2006/relationships/image"/><Relationship Id="rId28" Target="../media/image4.svg" Type="http://schemas.openxmlformats.org/officeDocument/2006/relationships/image"/><Relationship Id="rId29" Target="../media/image12.png" Type="http://schemas.openxmlformats.org/officeDocument/2006/relationships/image"/><Relationship Id="rId3" Target="../media/image19.png" Type="http://schemas.openxmlformats.org/officeDocument/2006/relationships/image"/><Relationship Id="rId30" Target="../media/image43.png" Type="http://schemas.openxmlformats.org/officeDocument/2006/relationships/image"/><Relationship Id="rId31" Target="https://www.vdo.ai/research/case-study-taneria" TargetMode="External" Type="http://schemas.openxmlformats.org/officeDocument/2006/relationships/hyperlink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https://www.vdo.ai/creative-showcase/ctv-too-yumm-voting-poll" TargetMode="External" Type="http://schemas.openxmlformats.org/officeDocument/2006/relationships/hyperlink"/><Relationship Id="rId12" Target="https://www.vdo.ai/creative-showcase/ctv-too-yumm-voting-poll" TargetMode="External" Type="http://schemas.openxmlformats.org/officeDocument/2006/relationships/hyperlink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2" Target="../media/image12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4.png" Type="http://schemas.openxmlformats.org/officeDocument/2006/relationships/image"/><Relationship Id="rId8" Target="https://www.vdo.ai/creative-showcase/ctv-too-yumm-voting-poll" TargetMode="External" Type="http://schemas.openxmlformats.org/officeDocument/2006/relationships/hyperlink"/><Relationship Id="rId9" Target="../media/image5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9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https://www.vdo.ai/creative-showcase/ctv-tata-coffee-live-weather-based" TargetMode="External" Type="http://schemas.openxmlformats.org/officeDocument/2006/relationships/hyperlink"/><Relationship Id="rId9" Target="../media/image5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https://www.vdo.ai/creative-showcase/ctv-hyundai-geo-location-ctv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62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https://www.vdo.ai/creative-showcase/olv-flipkart-advanced-olv-carousel-overlay" TargetMode="External" Type="http://schemas.openxmlformats.org/officeDocument/2006/relationships/hyperlink"/><Relationship Id="rId9" Target="../media/image5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2" Target="../media/image12.png" Type="http://schemas.openxmlformats.org/officeDocument/2006/relationships/image"/><Relationship Id="rId3" Target="../media/image63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https://www.vdo.ai/creative-showcase/display-oppo-interactive-display-expandable" TargetMode="External" Type="http://schemas.openxmlformats.org/officeDocument/2006/relationships/hyperlink"/><Relationship Id="rId9" Target="../media/image5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2" Target="../media/image12.png" Type="http://schemas.openxmlformats.org/officeDocument/2006/relationships/image"/><Relationship Id="rId3" Target="../media/image64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5.jpe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https://www.vdo.ai/creative-showcase/olv-amul-api-triggered-live-weather-based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https://www.vdo.ai/sample/showcase/versuni-2507/advanced-olv-airfryer-sample.php" TargetMode="External" Type="http://schemas.openxmlformats.org/officeDocument/2006/relationships/hyperlink"/><Relationship Id="rId15" Target="../media/image57.png" Type="http://schemas.openxmlformats.org/officeDocument/2006/relationships/image"/><Relationship Id="rId16" Target="../media/image58.svg" Type="http://schemas.openxmlformats.org/officeDocument/2006/relationships/image"/><Relationship Id="rId2" Target="../media/image12.png" Type="http://schemas.openxmlformats.org/officeDocument/2006/relationships/image"/><Relationship Id="rId3" Target="../media/image62.png" Type="http://schemas.openxmlformats.org/officeDocument/2006/relationships/image"/><Relationship Id="rId4" Target="https://www.vdo.ai/sample/showcase/versuni-2507/advanced-olv-airfryer-sample.php" TargetMode="External" Type="http://schemas.openxmlformats.org/officeDocument/2006/relationships/hyperlink"/><Relationship Id="rId5" Target="../media/image66.png" Type="http://schemas.openxmlformats.org/officeDocument/2006/relationships/image"/><Relationship Id="rId6" Target="https://www.vdo.ai/sample/showcase/versuni-2507/advanced-olv-airfryer-sample.php" TargetMode="External" Type="http://schemas.openxmlformats.org/officeDocument/2006/relationships/hyperlink"/><Relationship Id="rId7" Target="../media/image67.png" Type="http://schemas.openxmlformats.org/officeDocument/2006/relationships/image"/><Relationship Id="rId8" Target="../media/image68.png" Type="http://schemas.openxmlformats.org/officeDocument/2006/relationships/image"/><Relationship Id="rId9" Target="../media/image6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2" Target="../media/image1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https://www.vdo.ai/creative-showcase/display-panasonic-api-triggered-live-aqi-based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.svg" Type="http://schemas.openxmlformats.org/officeDocument/2006/relationships/image"/><Relationship Id="rId11" Target="../media/image77.png" Type="http://schemas.openxmlformats.org/officeDocument/2006/relationships/image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2.png" Type="http://schemas.openxmlformats.org/officeDocument/2006/relationships/image"/><Relationship Id="rId9" Target="../media/image7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0.png" Type="http://schemas.openxmlformats.org/officeDocument/2006/relationships/image"/><Relationship Id="rId6" Target="../media/image2.png" Type="http://schemas.openxmlformats.org/officeDocument/2006/relationships/image"/><Relationship Id="rId7" Target="../media/image81.png" Type="http://schemas.openxmlformats.org/officeDocument/2006/relationships/image"/><Relationship Id="rId8" Target="../media/image82.svg" Type="http://schemas.openxmlformats.org/officeDocument/2006/relationships/image"/><Relationship Id="rId9" Target="mailto:hello@vdo.ai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56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6998" y="979714"/>
            <a:ext cx="11201002" cy="8098649"/>
          </a:xfrm>
          <a:custGeom>
            <a:avLst/>
            <a:gdLst/>
            <a:ahLst/>
            <a:cxnLst/>
            <a:rect r="r" b="b" t="t" l="l"/>
            <a:pathLst>
              <a:path h="8098649" w="11201002">
                <a:moveTo>
                  <a:pt x="0" y="0"/>
                </a:moveTo>
                <a:lnTo>
                  <a:pt x="11201002" y="0"/>
                </a:lnTo>
                <a:lnTo>
                  <a:pt x="11201002" y="8098650"/>
                </a:lnTo>
                <a:lnTo>
                  <a:pt x="0" y="8098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874" t="-10729" r="-5411" b="-18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3327853" y="736147"/>
            <a:ext cx="4216399" cy="8814705"/>
          </a:xfrm>
          <a:custGeom>
            <a:avLst/>
            <a:gdLst/>
            <a:ahLst/>
            <a:cxnLst/>
            <a:rect r="r" b="b" t="t" l="l"/>
            <a:pathLst>
              <a:path h="8814705" w="4216399">
                <a:moveTo>
                  <a:pt x="0" y="0"/>
                </a:moveTo>
                <a:lnTo>
                  <a:pt x="4216399" y="0"/>
                </a:lnTo>
                <a:lnTo>
                  <a:pt x="4216399" y="8814706"/>
                </a:lnTo>
                <a:lnTo>
                  <a:pt x="0" y="88147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634" t="-3330" r="-119160" b="-6277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4228" y="275804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4228" y="9583090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89728" y="275804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89728" y="9583090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45295" y="9695485"/>
            <a:ext cx="1119391" cy="272185"/>
          </a:xfrm>
          <a:custGeom>
            <a:avLst/>
            <a:gdLst/>
            <a:ahLst/>
            <a:cxnLst/>
            <a:rect r="r" b="b" t="t" l="l"/>
            <a:pathLst>
              <a:path h="272185" w="1119391">
                <a:moveTo>
                  <a:pt x="0" y="0"/>
                </a:moveTo>
                <a:lnTo>
                  <a:pt x="1119391" y="0"/>
                </a:lnTo>
                <a:lnTo>
                  <a:pt x="1119391" y="272185"/>
                </a:lnTo>
                <a:lnTo>
                  <a:pt x="0" y="2721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6996" r="0" b="-15426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13185" y="4339318"/>
            <a:ext cx="6845736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b="true" sz="7500" spc="-375">
                <a:solidFill>
                  <a:srgbClr val="FBB040"/>
                </a:solidFill>
                <a:latin typeface="Poppins Bold"/>
                <a:ea typeface="Poppins Bold"/>
                <a:cs typeface="Poppins Bold"/>
                <a:sym typeface="Poppins Bold"/>
              </a:rPr>
              <a:t>Festive Season</a:t>
            </a:r>
          </a:p>
          <a:p>
            <a:pPr algn="ctr">
              <a:lnSpc>
                <a:spcPts val="7500"/>
              </a:lnSpc>
            </a:pPr>
            <a:r>
              <a:rPr lang="en-US" b="true" sz="7500" spc="-375">
                <a:solidFill>
                  <a:srgbClr val="FBB040"/>
                </a:solidFill>
                <a:latin typeface="Poppins Bold"/>
                <a:ea typeface="Poppins Bold"/>
                <a:cs typeface="Poppins Bold"/>
                <a:sym typeface="Poppins Bold"/>
              </a:rPr>
              <a:t>with VDO.AI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228" y="275804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4228" y="9583090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519228" y="275804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36321" y="3710709"/>
            <a:ext cx="2198935" cy="3135736"/>
          </a:xfrm>
          <a:custGeom>
            <a:avLst/>
            <a:gdLst/>
            <a:ahLst/>
            <a:cxnLst/>
            <a:rect r="r" b="b" t="t" l="l"/>
            <a:pathLst>
              <a:path h="3135736" w="2198935">
                <a:moveTo>
                  <a:pt x="0" y="0"/>
                </a:moveTo>
                <a:lnTo>
                  <a:pt x="2198935" y="0"/>
                </a:lnTo>
                <a:lnTo>
                  <a:pt x="2198935" y="3135736"/>
                </a:lnTo>
                <a:lnTo>
                  <a:pt x="0" y="3135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68986" y="3710709"/>
            <a:ext cx="2198935" cy="3135736"/>
          </a:xfrm>
          <a:custGeom>
            <a:avLst/>
            <a:gdLst/>
            <a:ahLst/>
            <a:cxnLst/>
            <a:rect r="r" b="b" t="t" l="l"/>
            <a:pathLst>
              <a:path h="3135736" w="2198935">
                <a:moveTo>
                  <a:pt x="0" y="0"/>
                </a:moveTo>
                <a:lnTo>
                  <a:pt x="2198934" y="0"/>
                </a:lnTo>
                <a:lnTo>
                  <a:pt x="2198934" y="3135736"/>
                </a:lnTo>
                <a:lnTo>
                  <a:pt x="0" y="3135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1067182" y="6587595"/>
            <a:ext cx="2198935" cy="3135736"/>
          </a:xfrm>
          <a:custGeom>
            <a:avLst/>
            <a:gdLst/>
            <a:ahLst/>
            <a:cxnLst/>
            <a:rect r="r" b="b" t="t" l="l"/>
            <a:pathLst>
              <a:path h="3135736" w="2198935">
                <a:moveTo>
                  <a:pt x="0" y="0"/>
                </a:moveTo>
                <a:lnTo>
                  <a:pt x="2198935" y="0"/>
                </a:lnTo>
                <a:lnTo>
                  <a:pt x="2198935" y="3135735"/>
                </a:lnTo>
                <a:lnTo>
                  <a:pt x="0" y="3135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7542399" y="6587595"/>
            <a:ext cx="2198935" cy="3135736"/>
          </a:xfrm>
          <a:custGeom>
            <a:avLst/>
            <a:gdLst/>
            <a:ahLst/>
            <a:cxnLst/>
            <a:rect r="r" b="b" t="t" l="l"/>
            <a:pathLst>
              <a:path h="3135736" w="2198935">
                <a:moveTo>
                  <a:pt x="0" y="0"/>
                </a:moveTo>
                <a:lnTo>
                  <a:pt x="2198935" y="0"/>
                </a:lnTo>
                <a:lnTo>
                  <a:pt x="2198935" y="3135735"/>
                </a:lnTo>
                <a:lnTo>
                  <a:pt x="0" y="3135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6261" y="3857602"/>
            <a:ext cx="6333039" cy="2841951"/>
          </a:xfrm>
          <a:custGeom>
            <a:avLst/>
            <a:gdLst/>
            <a:ahLst/>
            <a:cxnLst/>
            <a:rect r="r" b="b" t="t" l="l"/>
            <a:pathLst>
              <a:path h="2841951" w="6333039">
                <a:moveTo>
                  <a:pt x="0" y="0"/>
                </a:moveTo>
                <a:lnTo>
                  <a:pt x="6333039" y="0"/>
                </a:lnTo>
                <a:lnTo>
                  <a:pt x="6333039" y="2841951"/>
                </a:lnTo>
                <a:lnTo>
                  <a:pt x="0" y="2841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4591965" y="6587595"/>
            <a:ext cx="2198935" cy="3135736"/>
          </a:xfrm>
          <a:custGeom>
            <a:avLst/>
            <a:gdLst/>
            <a:ahLst/>
            <a:cxnLst/>
            <a:rect r="r" b="b" t="t" l="l"/>
            <a:pathLst>
              <a:path h="3135736" w="2198935">
                <a:moveTo>
                  <a:pt x="0" y="0"/>
                </a:moveTo>
                <a:lnTo>
                  <a:pt x="2198934" y="0"/>
                </a:lnTo>
                <a:lnTo>
                  <a:pt x="2198934" y="3135735"/>
                </a:lnTo>
                <a:lnTo>
                  <a:pt x="0" y="3135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72872" y="4608896"/>
            <a:ext cx="373733" cy="420515"/>
          </a:xfrm>
          <a:custGeom>
            <a:avLst/>
            <a:gdLst/>
            <a:ahLst/>
            <a:cxnLst/>
            <a:rect r="r" b="b" t="t" l="l"/>
            <a:pathLst>
              <a:path h="420515" w="373733">
                <a:moveTo>
                  <a:pt x="0" y="0"/>
                </a:moveTo>
                <a:lnTo>
                  <a:pt x="373733" y="0"/>
                </a:lnTo>
                <a:lnTo>
                  <a:pt x="373733" y="420515"/>
                </a:lnTo>
                <a:lnTo>
                  <a:pt x="0" y="4205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179801" y="4608896"/>
            <a:ext cx="373733" cy="420515"/>
          </a:xfrm>
          <a:custGeom>
            <a:avLst/>
            <a:gdLst/>
            <a:ahLst/>
            <a:cxnLst/>
            <a:rect r="r" b="b" t="t" l="l"/>
            <a:pathLst>
              <a:path h="420515" w="373733">
                <a:moveTo>
                  <a:pt x="0" y="0"/>
                </a:moveTo>
                <a:lnTo>
                  <a:pt x="373733" y="0"/>
                </a:lnTo>
                <a:lnTo>
                  <a:pt x="373733" y="420515"/>
                </a:lnTo>
                <a:lnTo>
                  <a:pt x="0" y="4205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>
            <a:hlinkClick r:id="rId12" tooltip="https://www.vdo.ai/sample/showcase/grt-dhanteras/story-telling-sample.php"/>
          </p:cNvPr>
          <p:cNvSpPr/>
          <p:nvPr/>
        </p:nvSpPr>
        <p:spPr>
          <a:xfrm flipH="false" flipV="false" rot="0">
            <a:off x="877589" y="3710709"/>
            <a:ext cx="4324672" cy="7503871"/>
          </a:xfrm>
          <a:custGeom>
            <a:avLst/>
            <a:gdLst/>
            <a:ahLst/>
            <a:cxnLst/>
            <a:rect r="r" b="b" t="t" l="l"/>
            <a:pathLst>
              <a:path h="7503871" w="4324672">
                <a:moveTo>
                  <a:pt x="0" y="0"/>
                </a:moveTo>
                <a:lnTo>
                  <a:pt x="4324672" y="0"/>
                </a:lnTo>
                <a:lnTo>
                  <a:pt x="4324672" y="7503872"/>
                </a:lnTo>
                <a:lnTo>
                  <a:pt x="0" y="75038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102" r="0" b="-916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095375"/>
            <a:ext cx="8462298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spc="-375" b="true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Festive Media Landscape in 2024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076575"/>
            <a:ext cx="9377184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b="true" sz="2499" spc="124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TYOHAAR KA RUSH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2023" y="4809628"/>
            <a:ext cx="2523083" cy="61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999" b="true">
                <a:solidFill>
                  <a:srgbClr val="993366"/>
                </a:solidFill>
                <a:latin typeface="Poppins Bold"/>
                <a:ea typeface="Poppins Bold"/>
                <a:cs typeface="Poppins Bold"/>
                <a:sym typeface="Poppins Bold"/>
              </a:rPr>
              <a:t>$14 Billion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23098" y="5412243"/>
            <a:ext cx="4600932" cy="30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Gross Merchandise Value, ↑ 12% Y-O-Y 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46605" y="4594363"/>
            <a:ext cx="138082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3000" b="true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5 to 6%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65987" y="5207140"/>
            <a:ext cx="1339602" cy="58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Spends per </a:t>
            </a:r>
          </a:p>
          <a:p>
            <a:pPr algn="ctr">
              <a:lnSpc>
                <a:spcPts val="224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Shopper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8971" y="4608896"/>
            <a:ext cx="705296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3000" b="true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13%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33711" y="5207140"/>
            <a:ext cx="2069484" cy="58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Spends from Tier‑2 cities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78726" y="7265323"/>
            <a:ext cx="72628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3000" spc="-177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CTV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20682" y="7792656"/>
            <a:ext cx="2478112" cy="28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16% of total ad spend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8789" y="7198648"/>
            <a:ext cx="3935720" cy="66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b="true" sz="2300" spc="-135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OLV/</a:t>
            </a:r>
          </a:p>
          <a:p>
            <a:pPr algn="ctr">
              <a:lnSpc>
                <a:spcPts val="2576"/>
              </a:lnSpc>
            </a:pPr>
            <a:r>
              <a:rPr lang="en-US" b="true" sz="2300" spc="-135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Display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13490" y="7265323"/>
            <a:ext cx="45839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3000" spc="-177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TV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29784" y="7824062"/>
            <a:ext cx="2425801" cy="28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29% of total ad spend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26261" y="7957473"/>
            <a:ext cx="2498389" cy="28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55% of total ad spend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99002" y="8144163"/>
            <a:ext cx="2285728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599" spc="-67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₹500-800 CPM </a:t>
            </a:r>
          </a:p>
          <a:p>
            <a:pPr algn="ctr">
              <a:lnSpc>
                <a:spcPts val="2159"/>
              </a:lnSpc>
            </a:pPr>
            <a:r>
              <a:rPr lang="en-US" sz="1599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High-Intent Targeting, Action - Driven Formats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32591" y="8263306"/>
            <a:ext cx="2285728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599" spc="-67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₹340-400 CPM</a:t>
            </a:r>
          </a:p>
          <a:p>
            <a:pPr algn="ctr">
              <a:lnSpc>
                <a:spcPts val="2159"/>
              </a:lnSpc>
            </a:pPr>
            <a:r>
              <a:rPr lang="en-US" sz="1599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Premium Placements, Innovative Formats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553667" y="8205758"/>
            <a:ext cx="2285728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1599" spc="-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Lack of accurate measurement framework 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356A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2408296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287500" y="2292963"/>
            <a:ext cx="1136037" cy="1136037"/>
          </a:xfrm>
          <a:custGeom>
            <a:avLst/>
            <a:gdLst/>
            <a:ahLst/>
            <a:cxnLst/>
            <a:rect r="r" b="b" t="t" l="l"/>
            <a:pathLst>
              <a:path h="1136037" w="1136037">
                <a:moveTo>
                  <a:pt x="0" y="0"/>
                </a:moveTo>
                <a:lnTo>
                  <a:pt x="1136037" y="0"/>
                </a:lnTo>
                <a:lnTo>
                  <a:pt x="1136037" y="1136037"/>
                </a:lnTo>
                <a:lnTo>
                  <a:pt x="0" y="1136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35770" y="9695485"/>
            <a:ext cx="1119391" cy="272185"/>
          </a:xfrm>
          <a:custGeom>
            <a:avLst/>
            <a:gdLst/>
            <a:ahLst/>
            <a:cxnLst/>
            <a:rect r="r" b="b" t="t" l="l"/>
            <a:pathLst>
              <a:path h="272185" w="1119391">
                <a:moveTo>
                  <a:pt x="0" y="0"/>
                </a:moveTo>
                <a:lnTo>
                  <a:pt x="1119391" y="0"/>
                </a:lnTo>
                <a:lnTo>
                  <a:pt x="1119391" y="272185"/>
                </a:lnTo>
                <a:lnTo>
                  <a:pt x="0" y="2721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6996" r="0" b="-15426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713" y="1218819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3" y="0"/>
                </a:lnTo>
                <a:lnTo>
                  <a:pt x="394543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7713" y="3065853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3" y="0"/>
                </a:lnTo>
                <a:lnTo>
                  <a:pt x="394543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7713" y="4912886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3" y="0"/>
                </a:lnTo>
                <a:lnTo>
                  <a:pt x="394543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57713" y="6759920"/>
            <a:ext cx="7429500" cy="449580"/>
            <a:chOff x="0" y="0"/>
            <a:chExt cx="9906000" cy="599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6057" cy="570809"/>
            </a:xfrm>
            <a:custGeom>
              <a:avLst/>
              <a:gdLst/>
              <a:ahLst/>
              <a:cxnLst/>
              <a:rect r="r" b="b" t="t" l="l"/>
              <a:pathLst>
                <a:path h="570809" w="526057">
                  <a:moveTo>
                    <a:pt x="0" y="0"/>
                  </a:moveTo>
                  <a:lnTo>
                    <a:pt x="526057" y="0"/>
                  </a:lnTo>
                  <a:lnTo>
                    <a:pt x="526057" y="570809"/>
                  </a:lnTo>
                  <a:lnTo>
                    <a:pt x="0" y="570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762000" y="0"/>
              <a:ext cx="9144000" cy="599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3000" spc="-17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Video Drives The Discovery Journey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713" y="8606953"/>
            <a:ext cx="7429500" cy="449580"/>
            <a:chOff x="0" y="0"/>
            <a:chExt cx="9906000" cy="599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6057" cy="570809"/>
            </a:xfrm>
            <a:custGeom>
              <a:avLst/>
              <a:gdLst/>
              <a:ahLst/>
              <a:cxnLst/>
              <a:rect r="r" b="b" t="t" l="l"/>
              <a:pathLst>
                <a:path h="570809" w="526057">
                  <a:moveTo>
                    <a:pt x="0" y="0"/>
                  </a:moveTo>
                  <a:lnTo>
                    <a:pt x="526057" y="0"/>
                  </a:lnTo>
                  <a:lnTo>
                    <a:pt x="526057" y="570809"/>
                  </a:lnTo>
                  <a:lnTo>
                    <a:pt x="0" y="570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762000" y="0"/>
              <a:ext cx="9144000" cy="599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3000" spc="-177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Storytelling Meets Smart Delivery</a:t>
              </a:r>
            </a:p>
          </p:txBody>
        </p:sp>
      </p:grpSp>
      <p:sp>
        <p:nvSpPr>
          <p:cNvPr name="Freeform 16" id="16">
            <a:hlinkClick r:id="rId8" tooltip="https://www.vdo.ai/creative-showcase/ctv-cadbury-bournville-ctv-carousel-gallery-qr-wrapper"/>
          </p:cNvPr>
          <p:cNvSpPr/>
          <p:nvPr/>
        </p:nvSpPr>
        <p:spPr>
          <a:xfrm flipH="false" flipV="false" rot="0">
            <a:off x="10717899" y="4912886"/>
            <a:ext cx="6577566" cy="6303527"/>
          </a:xfrm>
          <a:custGeom>
            <a:avLst/>
            <a:gdLst/>
            <a:ahLst/>
            <a:cxnLst/>
            <a:rect r="r" b="b" t="t" l="l"/>
            <a:pathLst>
              <a:path h="6303527" w="6577566">
                <a:moveTo>
                  <a:pt x="0" y="0"/>
                </a:moveTo>
                <a:lnTo>
                  <a:pt x="6577566" y="0"/>
                </a:lnTo>
                <a:lnTo>
                  <a:pt x="6577566" y="6303527"/>
                </a:lnTo>
                <a:lnTo>
                  <a:pt x="0" y="6303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0772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17408" y="8427858"/>
            <a:ext cx="2888549" cy="1924495"/>
          </a:xfrm>
          <a:custGeom>
            <a:avLst/>
            <a:gdLst/>
            <a:ahLst/>
            <a:cxnLst/>
            <a:rect r="r" b="b" t="t" l="l"/>
            <a:pathLst>
              <a:path h="1924495" w="2888549">
                <a:moveTo>
                  <a:pt x="0" y="0"/>
                </a:moveTo>
                <a:lnTo>
                  <a:pt x="2888549" y="0"/>
                </a:lnTo>
                <a:lnTo>
                  <a:pt x="2888549" y="1924496"/>
                </a:lnTo>
                <a:lnTo>
                  <a:pt x="0" y="19244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893067" y="1211417"/>
            <a:ext cx="5864572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7500" spc="-44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7500" spc="-44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 Real Festive Multiplier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25353" y="4402745"/>
            <a:ext cx="3352593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9"/>
              </a:lnSpc>
            </a:pPr>
            <a:r>
              <a:rPr lang="en-US" b="true" sz="2499" spc="12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VIDEO WALI DIWALI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9213" y="1218819"/>
            <a:ext cx="68580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000" spc="-1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Festive Is Visual &amp; Video Owns The Scroll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3378" y="2939143"/>
            <a:ext cx="742950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000" spc="-1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CTV Screens = Big Emotions + Bigger Impact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9213" y="4878387"/>
            <a:ext cx="7143287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000" spc="-1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 Funnel Attainment: From Mass Reach To Measurable Results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48200" y="1028700"/>
            <a:ext cx="11268300" cy="8229600"/>
            <a:chOff x="0" y="0"/>
            <a:chExt cx="15024399" cy="10972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948659" y="199891"/>
              <a:ext cx="1134982" cy="1134982"/>
              <a:chOff x="0" y="0"/>
              <a:chExt cx="946000" cy="946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882031" y="2361485"/>
              <a:ext cx="1134982" cy="1134982"/>
              <a:chOff x="0" y="0"/>
              <a:chExt cx="946000" cy="946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2825339" y="2366883"/>
              <a:ext cx="1248253" cy="1248264"/>
            </a:xfrm>
            <a:custGeom>
              <a:avLst/>
              <a:gdLst/>
              <a:ahLst/>
              <a:cxnLst/>
              <a:rect r="r" b="b" t="t" l="l"/>
              <a:pathLst>
                <a:path h="1248264" w="1248253">
                  <a:moveTo>
                    <a:pt x="0" y="0"/>
                  </a:moveTo>
                  <a:lnTo>
                    <a:pt x="1248253" y="0"/>
                  </a:lnTo>
                  <a:lnTo>
                    <a:pt x="1248253" y="1248264"/>
                  </a:lnTo>
                  <a:lnTo>
                    <a:pt x="0" y="1248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3837683" y="235392"/>
              <a:ext cx="1134982" cy="1134982"/>
              <a:chOff x="0" y="0"/>
              <a:chExt cx="946000" cy="946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6788522" y="235392"/>
              <a:ext cx="1134982" cy="1134982"/>
              <a:chOff x="0" y="0"/>
              <a:chExt cx="946000" cy="94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9682172" y="235392"/>
              <a:ext cx="1134982" cy="1134982"/>
              <a:chOff x="0" y="0"/>
              <a:chExt cx="946000" cy="946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882031" y="235392"/>
              <a:ext cx="1134982" cy="1134982"/>
              <a:chOff x="0" y="0"/>
              <a:chExt cx="946000" cy="946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948659" y="2325985"/>
              <a:ext cx="1134982" cy="1134982"/>
              <a:chOff x="0" y="0"/>
              <a:chExt cx="946000" cy="946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3837683" y="2361485"/>
              <a:ext cx="1134982" cy="1134982"/>
              <a:chOff x="0" y="0"/>
              <a:chExt cx="946000" cy="946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6788522" y="2361485"/>
              <a:ext cx="1134982" cy="1134982"/>
              <a:chOff x="0" y="0"/>
              <a:chExt cx="946000" cy="946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9682172" y="2361485"/>
              <a:ext cx="1134982" cy="1134982"/>
              <a:chOff x="0" y="0"/>
              <a:chExt cx="946000" cy="946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948659" y="4571619"/>
              <a:ext cx="1134982" cy="1134982"/>
              <a:chOff x="0" y="0"/>
              <a:chExt cx="946000" cy="946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3837683" y="4607121"/>
              <a:ext cx="1134982" cy="1134982"/>
              <a:chOff x="0" y="0"/>
              <a:chExt cx="946000" cy="946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6788522" y="4607121"/>
              <a:ext cx="1134982" cy="1134982"/>
              <a:chOff x="0" y="0"/>
              <a:chExt cx="946000" cy="946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9682172" y="4607121"/>
              <a:ext cx="1134982" cy="1134982"/>
              <a:chOff x="0" y="0"/>
              <a:chExt cx="946000" cy="946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2882031" y="4607121"/>
              <a:ext cx="1134982" cy="1134982"/>
              <a:chOff x="0" y="0"/>
              <a:chExt cx="946000" cy="946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948659" y="6909678"/>
              <a:ext cx="1134982" cy="1134982"/>
              <a:chOff x="0" y="0"/>
              <a:chExt cx="946000" cy="946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3837683" y="6945178"/>
              <a:ext cx="1134982" cy="1134982"/>
              <a:chOff x="0" y="0"/>
              <a:chExt cx="946000" cy="946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6788522" y="6945178"/>
              <a:ext cx="1134982" cy="1134982"/>
              <a:chOff x="0" y="0"/>
              <a:chExt cx="946000" cy="946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2882031" y="6945178"/>
              <a:ext cx="1134982" cy="1134982"/>
              <a:chOff x="0" y="0"/>
              <a:chExt cx="946000" cy="946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sp>
          <p:nvSpPr>
            <p:cNvPr name="Freeform 42" id="42"/>
            <p:cNvSpPr/>
            <p:nvPr/>
          </p:nvSpPr>
          <p:spPr>
            <a:xfrm flipH="false" flipV="false" rot="11">
              <a:off x="6731819" y="175451"/>
              <a:ext cx="1248270" cy="1248141"/>
            </a:xfrm>
            <a:custGeom>
              <a:avLst/>
              <a:gdLst/>
              <a:ahLst/>
              <a:cxnLst/>
              <a:rect r="r" b="b" t="t" l="l"/>
              <a:pathLst>
                <a:path h="1248141" w="1248270">
                  <a:moveTo>
                    <a:pt x="0" y="0"/>
                  </a:moveTo>
                  <a:lnTo>
                    <a:pt x="1248271" y="0"/>
                  </a:lnTo>
                  <a:lnTo>
                    <a:pt x="1248271" y="1248141"/>
                  </a:lnTo>
                  <a:lnTo>
                    <a:pt x="0" y="1248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9625469" y="195159"/>
              <a:ext cx="1248270" cy="1248211"/>
            </a:xfrm>
            <a:custGeom>
              <a:avLst/>
              <a:gdLst/>
              <a:ahLst/>
              <a:cxnLst/>
              <a:rect r="r" b="b" t="t" l="l"/>
              <a:pathLst>
                <a:path h="1248211" w="1248270">
                  <a:moveTo>
                    <a:pt x="0" y="0"/>
                  </a:moveTo>
                  <a:lnTo>
                    <a:pt x="1248271" y="0"/>
                  </a:lnTo>
                  <a:lnTo>
                    <a:pt x="1248271" y="1248212"/>
                  </a:lnTo>
                  <a:lnTo>
                    <a:pt x="0" y="1248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2879546" y="240295"/>
              <a:ext cx="1139845" cy="1139845"/>
            </a:xfrm>
            <a:custGeom>
              <a:avLst/>
              <a:gdLst/>
              <a:ahLst/>
              <a:cxnLst/>
              <a:rect r="r" b="b" t="t" l="l"/>
              <a:pathLst>
                <a:path h="1139845" w="1139845">
                  <a:moveTo>
                    <a:pt x="0" y="0"/>
                  </a:moveTo>
                  <a:lnTo>
                    <a:pt x="1139845" y="0"/>
                  </a:lnTo>
                  <a:lnTo>
                    <a:pt x="1139845" y="1139844"/>
                  </a:lnTo>
                  <a:lnTo>
                    <a:pt x="0" y="1139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817452" y="2297011"/>
              <a:ext cx="1175331" cy="1175340"/>
            </a:xfrm>
            <a:custGeom>
              <a:avLst/>
              <a:gdLst/>
              <a:ahLst/>
              <a:cxnLst/>
              <a:rect r="r" b="b" t="t" l="l"/>
              <a:pathLst>
                <a:path h="1175340" w="1175331">
                  <a:moveTo>
                    <a:pt x="0" y="0"/>
                  </a:moveTo>
                  <a:lnTo>
                    <a:pt x="1175331" y="0"/>
                  </a:lnTo>
                  <a:lnTo>
                    <a:pt x="1175331" y="1175341"/>
                  </a:lnTo>
                  <a:lnTo>
                    <a:pt x="0" y="1175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6786014" y="2317678"/>
              <a:ext cx="1139882" cy="1139896"/>
            </a:xfrm>
            <a:custGeom>
              <a:avLst/>
              <a:gdLst/>
              <a:ahLst/>
              <a:cxnLst/>
              <a:rect r="r" b="b" t="t" l="l"/>
              <a:pathLst>
                <a:path h="1139896" w="1139882">
                  <a:moveTo>
                    <a:pt x="0" y="0"/>
                  </a:moveTo>
                  <a:lnTo>
                    <a:pt x="1139881" y="0"/>
                  </a:lnTo>
                  <a:lnTo>
                    <a:pt x="1139881" y="1139896"/>
                  </a:lnTo>
                  <a:lnTo>
                    <a:pt x="0" y="1139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9647003" y="2307174"/>
              <a:ext cx="1205200" cy="1205215"/>
            </a:xfrm>
            <a:custGeom>
              <a:avLst/>
              <a:gdLst/>
              <a:ahLst/>
              <a:cxnLst/>
              <a:rect r="r" b="b" t="t" l="l"/>
              <a:pathLst>
                <a:path h="1205215" w="1205200">
                  <a:moveTo>
                    <a:pt x="0" y="0"/>
                  </a:moveTo>
                  <a:lnTo>
                    <a:pt x="1205200" y="0"/>
                  </a:lnTo>
                  <a:lnTo>
                    <a:pt x="1205200" y="1205215"/>
                  </a:lnTo>
                  <a:lnTo>
                    <a:pt x="0" y="1205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008113" y="4636803"/>
              <a:ext cx="1015958" cy="1015966"/>
            </a:xfrm>
            <a:custGeom>
              <a:avLst/>
              <a:gdLst/>
              <a:ahLst/>
              <a:cxnLst/>
              <a:rect r="r" b="b" t="t" l="l"/>
              <a:pathLst>
                <a:path h="1015966" w="1015958">
                  <a:moveTo>
                    <a:pt x="0" y="0"/>
                  </a:moveTo>
                  <a:lnTo>
                    <a:pt x="1015959" y="0"/>
                  </a:lnTo>
                  <a:lnTo>
                    <a:pt x="1015959" y="1015966"/>
                  </a:lnTo>
                  <a:lnTo>
                    <a:pt x="0" y="1015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6759380" y="4570214"/>
              <a:ext cx="1193150" cy="1193222"/>
            </a:xfrm>
            <a:custGeom>
              <a:avLst/>
              <a:gdLst/>
              <a:ahLst/>
              <a:cxnLst/>
              <a:rect r="r" b="b" t="t" l="l"/>
              <a:pathLst>
                <a:path h="1193222" w="1193150">
                  <a:moveTo>
                    <a:pt x="0" y="0"/>
                  </a:moveTo>
                  <a:lnTo>
                    <a:pt x="1193150" y="0"/>
                  </a:lnTo>
                  <a:lnTo>
                    <a:pt x="1193150" y="1193222"/>
                  </a:lnTo>
                  <a:lnTo>
                    <a:pt x="0" y="1193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6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9625469" y="4564742"/>
              <a:ext cx="1248270" cy="1248339"/>
            </a:xfrm>
            <a:custGeom>
              <a:avLst/>
              <a:gdLst/>
              <a:ahLst/>
              <a:cxnLst/>
              <a:rect r="r" b="b" t="t" l="l"/>
              <a:pathLst>
                <a:path h="1248339" w="1248270">
                  <a:moveTo>
                    <a:pt x="0" y="0"/>
                  </a:moveTo>
                  <a:lnTo>
                    <a:pt x="1248271" y="0"/>
                  </a:lnTo>
                  <a:lnTo>
                    <a:pt x="1248271" y="1248339"/>
                  </a:lnTo>
                  <a:lnTo>
                    <a:pt x="0" y="1248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0" b="-4"/>
              </a:stretch>
            </a:blip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2825310" y="4416044"/>
              <a:ext cx="1331712" cy="1331725"/>
            </a:xfrm>
            <a:custGeom>
              <a:avLst/>
              <a:gdLst/>
              <a:ahLst/>
              <a:cxnLst/>
              <a:rect r="r" b="b" t="t" l="l"/>
              <a:pathLst>
                <a:path h="1331725" w="1331712">
                  <a:moveTo>
                    <a:pt x="0" y="0"/>
                  </a:moveTo>
                  <a:lnTo>
                    <a:pt x="1331712" y="0"/>
                  </a:lnTo>
                  <a:lnTo>
                    <a:pt x="1331712" y="1331725"/>
                  </a:lnTo>
                  <a:lnTo>
                    <a:pt x="0" y="1331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913493" y="6879839"/>
              <a:ext cx="1205199" cy="1205213"/>
            </a:xfrm>
            <a:custGeom>
              <a:avLst/>
              <a:gdLst/>
              <a:ahLst/>
              <a:cxnLst/>
              <a:rect r="r" b="b" t="t" l="l"/>
              <a:pathLst>
                <a:path h="1205213" w="1205199">
                  <a:moveTo>
                    <a:pt x="0" y="0"/>
                  </a:moveTo>
                  <a:lnTo>
                    <a:pt x="1205199" y="0"/>
                  </a:lnTo>
                  <a:lnTo>
                    <a:pt x="1205199" y="1205213"/>
                  </a:lnTo>
                  <a:lnTo>
                    <a:pt x="0" y="1205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" b="0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3862776" y="6962945"/>
              <a:ext cx="1084678" cy="1084692"/>
            </a:xfrm>
            <a:custGeom>
              <a:avLst/>
              <a:gdLst/>
              <a:ahLst/>
              <a:cxnLst/>
              <a:rect r="r" b="b" t="t" l="l"/>
              <a:pathLst>
                <a:path h="1084692" w="1084678">
                  <a:moveTo>
                    <a:pt x="0" y="0"/>
                  </a:moveTo>
                  <a:lnTo>
                    <a:pt x="1084678" y="0"/>
                  </a:lnTo>
                  <a:lnTo>
                    <a:pt x="1084678" y="1084692"/>
                  </a:lnTo>
                  <a:lnTo>
                    <a:pt x="0" y="1084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1" b="0"/>
              </a:stretch>
            </a:blip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6847983" y="6964891"/>
              <a:ext cx="1015944" cy="1015944"/>
            </a:xfrm>
            <a:custGeom>
              <a:avLst/>
              <a:gdLst/>
              <a:ahLst/>
              <a:cxnLst/>
              <a:rect r="r" b="b" t="t" l="l"/>
              <a:pathLst>
                <a:path h="1015944" w="1015944">
                  <a:moveTo>
                    <a:pt x="0" y="0"/>
                  </a:moveTo>
                  <a:lnTo>
                    <a:pt x="1015944" y="0"/>
                  </a:lnTo>
                  <a:lnTo>
                    <a:pt x="1015944" y="1015944"/>
                  </a:lnTo>
                  <a:lnTo>
                    <a:pt x="0" y="101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2852889" y="6937404"/>
              <a:ext cx="1193150" cy="1193161"/>
            </a:xfrm>
            <a:custGeom>
              <a:avLst/>
              <a:gdLst/>
              <a:ahLst/>
              <a:cxnLst/>
              <a:rect r="r" b="b" t="t" l="l"/>
              <a:pathLst>
                <a:path h="1193161" w="1193150">
                  <a:moveTo>
                    <a:pt x="0" y="0"/>
                  </a:moveTo>
                  <a:lnTo>
                    <a:pt x="1193150" y="0"/>
                  </a:lnTo>
                  <a:lnTo>
                    <a:pt x="1193150" y="1193161"/>
                  </a:lnTo>
                  <a:lnTo>
                    <a:pt x="0" y="1193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3817437" y="4585490"/>
              <a:ext cx="1175358" cy="1175363"/>
            </a:xfrm>
            <a:custGeom>
              <a:avLst/>
              <a:gdLst/>
              <a:ahLst/>
              <a:cxnLst/>
              <a:rect r="r" b="b" t="t" l="l"/>
              <a:pathLst>
                <a:path h="1175363" w="1175358">
                  <a:moveTo>
                    <a:pt x="0" y="0"/>
                  </a:moveTo>
                  <a:lnTo>
                    <a:pt x="1175358" y="0"/>
                  </a:lnTo>
                  <a:lnTo>
                    <a:pt x="1175358" y="1175362"/>
                  </a:lnTo>
                  <a:lnTo>
                    <a:pt x="0" y="1175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grpSp>
          <p:nvGrpSpPr>
            <p:cNvPr name="Group 57" id="57"/>
            <p:cNvGrpSpPr/>
            <p:nvPr/>
          </p:nvGrpSpPr>
          <p:grpSpPr>
            <a:xfrm rot="0">
              <a:off x="948659" y="9282047"/>
              <a:ext cx="1134982" cy="1134982"/>
              <a:chOff x="0" y="0"/>
              <a:chExt cx="946000" cy="9460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3837683" y="9317549"/>
              <a:ext cx="1134982" cy="1134982"/>
              <a:chOff x="0" y="0"/>
              <a:chExt cx="946000" cy="9460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6788522" y="9317549"/>
              <a:ext cx="1134982" cy="1134982"/>
              <a:chOff x="0" y="0"/>
              <a:chExt cx="946000" cy="9460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12882031" y="9317549"/>
              <a:ext cx="1134982" cy="1134982"/>
              <a:chOff x="0" y="0"/>
              <a:chExt cx="946000" cy="9460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946023" cy="946023"/>
              </a:xfrm>
              <a:custGeom>
                <a:avLst/>
                <a:gdLst/>
                <a:ahLst/>
                <a:cxnLst/>
                <a:rect r="r" b="b" t="t" l="l"/>
                <a:pathLst>
                  <a:path h="946023" w="946023">
                    <a:moveTo>
                      <a:pt x="0" y="472948"/>
                    </a:moveTo>
                    <a:cubicBezTo>
                      <a:pt x="0" y="211709"/>
                      <a:pt x="211709" y="0"/>
                      <a:pt x="472948" y="0"/>
                    </a:cubicBezTo>
                    <a:cubicBezTo>
                      <a:pt x="734187" y="0"/>
                      <a:pt x="946023" y="211709"/>
                      <a:pt x="946023" y="472948"/>
                    </a:cubicBezTo>
                    <a:cubicBezTo>
                      <a:pt x="946023" y="734187"/>
                      <a:pt x="734187" y="946023"/>
                      <a:pt x="472948" y="946023"/>
                    </a:cubicBezTo>
                    <a:cubicBezTo>
                      <a:pt x="211709" y="946023"/>
                      <a:pt x="0" y="734187"/>
                      <a:pt x="0" y="472948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sp>
          <p:nvSpPr>
            <p:cNvPr name="Freeform 65" id="65"/>
            <p:cNvSpPr/>
            <p:nvPr/>
          </p:nvSpPr>
          <p:spPr>
            <a:xfrm flipH="false" flipV="false" rot="0">
              <a:off x="1028847" y="9358678"/>
              <a:ext cx="1015901" cy="1015901"/>
            </a:xfrm>
            <a:custGeom>
              <a:avLst/>
              <a:gdLst/>
              <a:ahLst/>
              <a:cxnLst/>
              <a:rect r="r" b="b" t="t" l="l"/>
              <a:pathLst>
                <a:path h="1015901" w="1015901">
                  <a:moveTo>
                    <a:pt x="0" y="0"/>
                  </a:moveTo>
                  <a:lnTo>
                    <a:pt x="1015901" y="0"/>
                  </a:lnTo>
                  <a:lnTo>
                    <a:pt x="1015901" y="1015900"/>
                  </a:lnTo>
                  <a:lnTo>
                    <a:pt x="0" y="101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3945601" y="9438846"/>
              <a:ext cx="976211" cy="976211"/>
            </a:xfrm>
            <a:custGeom>
              <a:avLst/>
              <a:gdLst/>
              <a:ahLst/>
              <a:cxnLst/>
              <a:rect r="r" b="b" t="t" l="l"/>
              <a:pathLst>
                <a:path h="976211" w="976211">
                  <a:moveTo>
                    <a:pt x="0" y="0"/>
                  </a:moveTo>
                  <a:lnTo>
                    <a:pt x="976211" y="0"/>
                  </a:lnTo>
                  <a:lnTo>
                    <a:pt x="976211" y="976211"/>
                  </a:lnTo>
                  <a:lnTo>
                    <a:pt x="0" y="976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6779228" y="9378685"/>
              <a:ext cx="1084687" cy="1084687"/>
            </a:xfrm>
            <a:custGeom>
              <a:avLst/>
              <a:gdLst/>
              <a:ahLst/>
              <a:cxnLst/>
              <a:rect r="r" b="b" t="t" l="l"/>
              <a:pathLst>
                <a:path h="1084687" w="1084687">
                  <a:moveTo>
                    <a:pt x="0" y="0"/>
                  </a:moveTo>
                  <a:lnTo>
                    <a:pt x="1084687" y="0"/>
                  </a:lnTo>
                  <a:lnTo>
                    <a:pt x="1084687" y="1084687"/>
                  </a:lnTo>
                  <a:lnTo>
                    <a:pt x="0" y="1084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12949053" y="9392953"/>
              <a:ext cx="1014178" cy="1014178"/>
            </a:xfrm>
            <a:custGeom>
              <a:avLst/>
              <a:gdLst/>
              <a:ahLst/>
              <a:cxnLst/>
              <a:rect r="r" b="b" t="t" l="l"/>
              <a:pathLst>
                <a:path h="1014178" w="1014178">
                  <a:moveTo>
                    <a:pt x="0" y="0"/>
                  </a:moveTo>
                  <a:lnTo>
                    <a:pt x="1014178" y="0"/>
                  </a:lnTo>
                  <a:lnTo>
                    <a:pt x="1014178" y="1014177"/>
                  </a:lnTo>
                  <a:lnTo>
                    <a:pt x="0" y="1014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3947870" y="291098"/>
              <a:ext cx="976256" cy="1067903"/>
            </a:xfrm>
            <a:custGeom>
              <a:avLst/>
              <a:gdLst/>
              <a:ahLst/>
              <a:cxnLst/>
              <a:rect r="r" b="b" t="t" l="l"/>
              <a:pathLst>
                <a:path h="1067903" w="976256">
                  <a:moveTo>
                    <a:pt x="0" y="0"/>
                  </a:moveTo>
                  <a:lnTo>
                    <a:pt x="976255" y="0"/>
                  </a:lnTo>
                  <a:lnTo>
                    <a:pt x="976255" y="1067903"/>
                  </a:lnTo>
                  <a:lnTo>
                    <a:pt x="0" y="1067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9" r="0" b="-3"/>
              </a:stretch>
            </a:blip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870991" y="0"/>
              <a:ext cx="1331669" cy="1332262"/>
            </a:xfrm>
            <a:custGeom>
              <a:avLst/>
              <a:gdLst/>
              <a:ahLst/>
              <a:cxnLst/>
              <a:rect r="r" b="b" t="t" l="l"/>
              <a:pathLst>
                <a:path h="1332262" w="1331669">
                  <a:moveTo>
                    <a:pt x="0" y="0"/>
                  </a:moveTo>
                  <a:lnTo>
                    <a:pt x="1331669" y="0"/>
                  </a:lnTo>
                  <a:lnTo>
                    <a:pt x="1331669" y="1332262"/>
                  </a:lnTo>
                  <a:lnTo>
                    <a:pt x="0" y="1332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-4"/>
              </a:stretch>
            </a:blip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911724" y="2546056"/>
              <a:ext cx="1205242" cy="793679"/>
            </a:xfrm>
            <a:custGeom>
              <a:avLst/>
              <a:gdLst/>
              <a:ahLst/>
              <a:cxnLst/>
              <a:rect r="r" b="b" t="t" l="l"/>
              <a:pathLst>
                <a:path h="793679" w="1205242">
                  <a:moveTo>
                    <a:pt x="0" y="0"/>
                  </a:moveTo>
                  <a:lnTo>
                    <a:pt x="1205242" y="0"/>
                  </a:lnTo>
                  <a:lnTo>
                    <a:pt x="1205242" y="793680"/>
                  </a:lnTo>
                  <a:lnTo>
                    <a:pt x="0" y="7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-5"/>
              </a:stretch>
            </a:blip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9653031" y="6919143"/>
              <a:ext cx="1193150" cy="1193161"/>
            </a:xfrm>
            <a:custGeom>
              <a:avLst/>
              <a:gdLst/>
              <a:ahLst/>
              <a:cxnLst/>
              <a:rect r="r" b="b" t="t" l="l"/>
              <a:pathLst>
                <a:path h="1193161" w="1193150">
                  <a:moveTo>
                    <a:pt x="0" y="0"/>
                  </a:moveTo>
                  <a:lnTo>
                    <a:pt x="1193149" y="0"/>
                  </a:lnTo>
                  <a:lnTo>
                    <a:pt x="1193149" y="1193161"/>
                  </a:lnTo>
                  <a:lnTo>
                    <a:pt x="0" y="1193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9739371" y="9393044"/>
              <a:ext cx="1015899" cy="1015899"/>
            </a:xfrm>
            <a:custGeom>
              <a:avLst/>
              <a:gdLst/>
              <a:ahLst/>
              <a:cxnLst/>
              <a:rect r="r" b="b" t="t" l="l"/>
              <a:pathLst>
                <a:path h="1015899" w="1015899">
                  <a:moveTo>
                    <a:pt x="0" y="0"/>
                  </a:moveTo>
                  <a:lnTo>
                    <a:pt x="1015899" y="0"/>
                  </a:lnTo>
                  <a:lnTo>
                    <a:pt x="1015899" y="1015899"/>
                  </a:lnTo>
                  <a:lnTo>
                    <a:pt x="0" y="1015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 rot="0">
              <a:off x="292192" y="1590562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TV Remote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0">
              <a:off x="3181216" y="1626064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Generative AI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6132055" y="1626064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Geo Location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9025703" y="1626064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Gyroscope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11874045" y="1626088"/>
              <a:ext cx="3150354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Speech Activation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0" y="3848248"/>
              <a:ext cx="3031817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Weather API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2930593" y="3848248"/>
              <a:ext cx="2948793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Sports Score API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6015419" y="3848248"/>
              <a:ext cx="2681484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Stock Market API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9025703" y="3848248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Motion Sensor</a:t>
              </a:r>
            </a:p>
          </p:txBody>
        </p:sp>
        <p:sp>
          <p:nvSpPr>
            <p:cNvPr name="TextBox 83" id="83"/>
            <p:cNvSpPr txBox="true"/>
            <p:nvPr/>
          </p:nvSpPr>
          <p:spPr>
            <a:xfrm rot="0">
              <a:off x="12225563" y="3848248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Parallax scroll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292192" y="5965300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3d Cube</a:t>
              </a:r>
            </a:p>
          </p:txBody>
        </p:sp>
        <p:sp>
          <p:nvSpPr>
            <p:cNvPr name="TextBox 85" id="85"/>
            <p:cNvSpPr txBox="true"/>
            <p:nvPr/>
          </p:nvSpPr>
          <p:spPr>
            <a:xfrm rot="0">
              <a:off x="3181216" y="5965300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Shake</a:t>
              </a:r>
            </a:p>
          </p:txBody>
        </p:sp>
        <p:sp>
          <p:nvSpPr>
            <p:cNvPr name="TextBox 86" id="86"/>
            <p:cNvSpPr txBox="true"/>
            <p:nvPr/>
          </p:nvSpPr>
          <p:spPr>
            <a:xfrm rot="0">
              <a:off x="6132055" y="5965300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Animation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9025703" y="5965300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Scratch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0">
              <a:off x="11933371" y="5965300"/>
              <a:ext cx="3031817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Augmented Reality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0">
              <a:off x="292192" y="8362329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Trivia Quiz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3181216" y="8362329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Games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5780690" y="8362346"/>
              <a:ext cx="3150354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Add To Calendar</a:t>
              </a:r>
            </a:p>
          </p:txBody>
        </p:sp>
        <p:sp>
          <p:nvSpPr>
            <p:cNvPr name="TextBox 92" id="92"/>
            <p:cNvSpPr txBox="true"/>
            <p:nvPr/>
          </p:nvSpPr>
          <p:spPr>
            <a:xfrm rot="0">
              <a:off x="9025703" y="8362329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Countdown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12225563" y="8362329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Chat Bot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292192" y="10734700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Expandable</a:t>
              </a:r>
            </a:p>
          </p:txBody>
        </p:sp>
        <p:sp>
          <p:nvSpPr>
            <p:cNvPr name="TextBox 95" id="95"/>
            <p:cNvSpPr txBox="true"/>
            <p:nvPr/>
          </p:nvSpPr>
          <p:spPr>
            <a:xfrm rot="0">
              <a:off x="3064420" y="10734719"/>
              <a:ext cx="2681484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Carousel Gallery</a:t>
              </a:r>
            </a:p>
          </p:txBody>
        </p:sp>
        <p:sp>
          <p:nvSpPr>
            <p:cNvPr name="TextBox 96" id="96"/>
            <p:cNvSpPr txBox="true"/>
            <p:nvPr/>
          </p:nvSpPr>
          <p:spPr>
            <a:xfrm rot="0">
              <a:off x="6037214" y="10734690"/>
              <a:ext cx="2637813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Touch Input</a:t>
              </a:r>
            </a:p>
          </p:txBody>
        </p:sp>
        <p:sp>
          <p:nvSpPr>
            <p:cNvPr name="TextBox 97" id="97"/>
            <p:cNvSpPr txBox="true"/>
            <p:nvPr/>
          </p:nvSpPr>
          <p:spPr>
            <a:xfrm rot="0">
              <a:off x="9025703" y="10734700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QR Code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12225563" y="10734700"/>
              <a:ext cx="2447769" cy="238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b="true" sz="1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360° Viewer</a:t>
              </a: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374228" y="9583090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374228" y="275804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7519228" y="275804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>
            <a:hlinkClick r:id="rId31" tooltip="https://www.vdo.ai/research/case-study-taneria"/>
          </p:cNvPr>
          <p:cNvSpPr/>
          <p:nvPr/>
        </p:nvSpPr>
        <p:spPr>
          <a:xfrm flipH="false" flipV="false" rot="0">
            <a:off x="1028700" y="5594559"/>
            <a:ext cx="5419500" cy="3663741"/>
          </a:xfrm>
          <a:custGeom>
            <a:avLst/>
            <a:gdLst/>
            <a:ahLst/>
            <a:cxnLst/>
            <a:rect r="r" b="b" t="t" l="l"/>
            <a:pathLst>
              <a:path h="3663741" w="5419500">
                <a:moveTo>
                  <a:pt x="0" y="0"/>
                </a:moveTo>
                <a:lnTo>
                  <a:pt x="5419500" y="0"/>
                </a:lnTo>
                <a:lnTo>
                  <a:pt x="5419500" y="3663741"/>
                </a:lnTo>
                <a:lnTo>
                  <a:pt x="0" y="366374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34886" t="-19458" r="-30346" b="-18026"/>
            </a:stretch>
          </a:blipFill>
        </p:spPr>
      </p:sp>
      <p:sp>
        <p:nvSpPr>
          <p:cNvPr name="TextBox 104" id="104"/>
          <p:cNvSpPr txBox="true"/>
          <p:nvPr/>
        </p:nvSpPr>
        <p:spPr>
          <a:xfrm rot="0">
            <a:off x="1028700" y="1009650"/>
            <a:ext cx="5088064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500" spc="-442" b="true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Festive Creative Tech Stack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028700" y="4264025"/>
            <a:ext cx="5088064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b="true" sz="2499" spc="124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YOUR FESTIVE FORMAT FIX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94992" y="0"/>
            <a:ext cx="2264308" cy="10287000"/>
            <a:chOff x="0" y="0"/>
            <a:chExt cx="59636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361" cy="2709333"/>
            </a:xfrm>
            <a:custGeom>
              <a:avLst/>
              <a:gdLst/>
              <a:ahLst/>
              <a:cxnLst/>
              <a:rect r="r" b="b" t="t" l="l"/>
              <a:pathLst>
                <a:path h="2709333" w="596361">
                  <a:moveTo>
                    <a:pt x="0" y="0"/>
                  </a:moveTo>
                  <a:lnTo>
                    <a:pt x="596361" y="0"/>
                  </a:lnTo>
                  <a:lnTo>
                    <a:pt x="59636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356A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596361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716500" y="0"/>
            <a:ext cx="571500" cy="10287000"/>
            <a:chOff x="0" y="0"/>
            <a:chExt cx="150519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51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0519">
                  <a:moveTo>
                    <a:pt x="0" y="0"/>
                  </a:moveTo>
                  <a:lnTo>
                    <a:pt x="150519" y="0"/>
                  </a:lnTo>
                  <a:lnTo>
                    <a:pt x="15051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BB0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50519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15500" y="1285875"/>
            <a:ext cx="6863627" cy="5143500"/>
            <a:chOff x="0" y="0"/>
            <a:chExt cx="9151503" cy="6858000"/>
          </a:xfrm>
        </p:grpSpPr>
        <p:sp>
          <p:nvSpPr>
            <p:cNvPr name="Freeform 9" id="9"/>
            <p:cNvSpPr/>
            <p:nvPr/>
          </p:nvSpPr>
          <p:spPr>
            <a:xfrm flipH="false" flipV="false" rot="5400000">
              <a:off x="624534" y="-624534"/>
              <a:ext cx="2931913" cy="4180981"/>
            </a:xfrm>
            <a:custGeom>
              <a:avLst/>
              <a:gdLst/>
              <a:ahLst/>
              <a:cxnLst/>
              <a:rect r="r" b="b" t="t" l="l"/>
              <a:pathLst>
                <a:path h="4180981" w="2931913">
                  <a:moveTo>
                    <a:pt x="0" y="0"/>
                  </a:moveTo>
                  <a:lnTo>
                    <a:pt x="2931913" y="0"/>
                  </a:lnTo>
                  <a:lnTo>
                    <a:pt x="2931913" y="4180981"/>
                  </a:lnTo>
                  <a:lnTo>
                    <a:pt x="0" y="4180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5400000">
              <a:off x="624534" y="3301553"/>
              <a:ext cx="2931913" cy="4180981"/>
            </a:xfrm>
            <a:custGeom>
              <a:avLst/>
              <a:gdLst/>
              <a:ahLst/>
              <a:cxnLst/>
              <a:rect r="r" b="b" t="t" l="l"/>
              <a:pathLst>
                <a:path h="4180981" w="2931913">
                  <a:moveTo>
                    <a:pt x="0" y="0"/>
                  </a:moveTo>
                  <a:lnTo>
                    <a:pt x="2931913" y="0"/>
                  </a:lnTo>
                  <a:lnTo>
                    <a:pt x="2931913" y="4180981"/>
                  </a:lnTo>
                  <a:lnTo>
                    <a:pt x="0" y="4180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5400000">
              <a:off x="5587553" y="-624534"/>
              <a:ext cx="2931913" cy="4180981"/>
            </a:xfrm>
            <a:custGeom>
              <a:avLst/>
              <a:gdLst/>
              <a:ahLst/>
              <a:cxnLst/>
              <a:rect r="r" b="b" t="t" l="l"/>
              <a:pathLst>
                <a:path h="4180981" w="2931913">
                  <a:moveTo>
                    <a:pt x="0" y="0"/>
                  </a:moveTo>
                  <a:lnTo>
                    <a:pt x="2931913" y="0"/>
                  </a:lnTo>
                  <a:lnTo>
                    <a:pt x="2931913" y="4180981"/>
                  </a:lnTo>
                  <a:lnTo>
                    <a:pt x="0" y="4180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5400000">
              <a:off x="5595056" y="3301553"/>
              <a:ext cx="2931913" cy="4180981"/>
            </a:xfrm>
            <a:custGeom>
              <a:avLst/>
              <a:gdLst/>
              <a:ahLst/>
              <a:cxnLst/>
              <a:rect r="r" b="b" t="t" l="l"/>
              <a:pathLst>
                <a:path h="4180981" w="2931913">
                  <a:moveTo>
                    <a:pt x="0" y="0"/>
                  </a:moveTo>
                  <a:lnTo>
                    <a:pt x="2931913" y="0"/>
                  </a:lnTo>
                  <a:lnTo>
                    <a:pt x="2931913" y="4180981"/>
                  </a:lnTo>
                  <a:lnTo>
                    <a:pt x="0" y="4180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762000" y="726181"/>
              <a:ext cx="2659046" cy="1450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b="true" sz="3000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3.5 Mins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Average Play Time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221463" y="4652269"/>
              <a:ext cx="1738054" cy="1450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98%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Average VCR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592305" y="4652269"/>
              <a:ext cx="2937416" cy="1450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41%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Increased Engagement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413068" y="726181"/>
              <a:ext cx="3280884" cy="1450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C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70%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Higher Banner Viewability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43000" y="4314132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3" y="0"/>
                </a:lnTo>
                <a:lnTo>
                  <a:pt x="394543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43000" y="5150427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3" y="0"/>
                </a:lnTo>
                <a:lnTo>
                  <a:pt x="394543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43000" y="5990532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3" y="0"/>
                </a:lnTo>
                <a:lnTo>
                  <a:pt x="394543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43000" y="7080735"/>
            <a:ext cx="13249537" cy="1847215"/>
            <a:chOff x="0" y="0"/>
            <a:chExt cx="17666050" cy="24629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253187"/>
              <a:ext cx="3330477" cy="1091021"/>
            </a:xfrm>
            <a:custGeom>
              <a:avLst/>
              <a:gdLst/>
              <a:ahLst/>
              <a:cxnLst/>
              <a:rect r="r" b="b" t="t" l="l"/>
              <a:pathLst>
                <a:path h="1091021" w="3330477">
                  <a:moveTo>
                    <a:pt x="0" y="0"/>
                  </a:moveTo>
                  <a:lnTo>
                    <a:pt x="3330477" y="0"/>
                  </a:lnTo>
                  <a:lnTo>
                    <a:pt x="3330477" y="1091021"/>
                  </a:lnTo>
                  <a:lnTo>
                    <a:pt x="0" y="1091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8095" r="0" b="-33614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850512" y="258290"/>
              <a:ext cx="2770963" cy="1085918"/>
            </a:xfrm>
            <a:custGeom>
              <a:avLst/>
              <a:gdLst/>
              <a:ahLst/>
              <a:cxnLst/>
              <a:rect r="r" b="b" t="t" l="l"/>
              <a:pathLst>
                <a:path h="1085918" w="2770963">
                  <a:moveTo>
                    <a:pt x="0" y="0"/>
                  </a:moveTo>
                  <a:lnTo>
                    <a:pt x="2770963" y="0"/>
                  </a:lnTo>
                  <a:lnTo>
                    <a:pt x="2770963" y="1085918"/>
                  </a:lnTo>
                  <a:lnTo>
                    <a:pt x="0" y="1085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626302"/>
              <a:ext cx="3288618" cy="836651"/>
            </a:xfrm>
            <a:custGeom>
              <a:avLst/>
              <a:gdLst/>
              <a:ahLst/>
              <a:cxnLst/>
              <a:rect r="r" b="b" t="t" l="l"/>
              <a:pathLst>
                <a:path h="836651" w="3288618">
                  <a:moveTo>
                    <a:pt x="0" y="0"/>
                  </a:moveTo>
                  <a:lnTo>
                    <a:pt x="3288618" y="0"/>
                  </a:lnTo>
                  <a:lnTo>
                    <a:pt x="3288618" y="836651"/>
                  </a:lnTo>
                  <a:lnTo>
                    <a:pt x="0" y="836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0564" r="-2164" b="-66413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0738622" y="506856"/>
              <a:ext cx="4537556" cy="583683"/>
            </a:xfrm>
            <a:custGeom>
              <a:avLst/>
              <a:gdLst/>
              <a:ahLst/>
              <a:cxnLst/>
              <a:rect r="r" b="b" t="t" l="l"/>
              <a:pathLst>
                <a:path h="583683" w="4537556">
                  <a:moveTo>
                    <a:pt x="0" y="0"/>
                  </a:moveTo>
                  <a:lnTo>
                    <a:pt x="4537556" y="0"/>
                  </a:lnTo>
                  <a:lnTo>
                    <a:pt x="4537556" y="583683"/>
                  </a:lnTo>
                  <a:lnTo>
                    <a:pt x="0" y="583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17" t="0" r="-117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7352992" y="278869"/>
              <a:ext cx="2995636" cy="1065339"/>
            </a:xfrm>
            <a:custGeom>
              <a:avLst/>
              <a:gdLst/>
              <a:ahLst/>
              <a:cxnLst/>
              <a:rect r="r" b="b" t="t" l="l"/>
              <a:pathLst>
                <a:path h="1065339" w="2995636">
                  <a:moveTo>
                    <a:pt x="0" y="0"/>
                  </a:moveTo>
                  <a:lnTo>
                    <a:pt x="2995636" y="0"/>
                  </a:lnTo>
                  <a:lnTo>
                    <a:pt x="2995636" y="1065339"/>
                  </a:lnTo>
                  <a:lnTo>
                    <a:pt x="0" y="1065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69156" t="-214847" r="-61155" b="-191703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7187775" y="1724493"/>
              <a:ext cx="3326070" cy="640269"/>
            </a:xfrm>
            <a:custGeom>
              <a:avLst/>
              <a:gdLst/>
              <a:ahLst/>
              <a:cxnLst/>
              <a:rect r="r" b="b" t="t" l="l"/>
              <a:pathLst>
                <a:path h="640269" w="3326070">
                  <a:moveTo>
                    <a:pt x="0" y="0"/>
                  </a:moveTo>
                  <a:lnTo>
                    <a:pt x="3326071" y="0"/>
                  </a:lnTo>
                  <a:lnTo>
                    <a:pt x="3326071" y="640269"/>
                  </a:lnTo>
                  <a:lnTo>
                    <a:pt x="0" y="640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002514" y="1678358"/>
              <a:ext cx="3531070" cy="768008"/>
            </a:xfrm>
            <a:custGeom>
              <a:avLst/>
              <a:gdLst/>
              <a:ahLst/>
              <a:cxnLst/>
              <a:rect r="r" b="b" t="t" l="l"/>
              <a:pathLst>
                <a:path h="768008" w="3531070">
                  <a:moveTo>
                    <a:pt x="0" y="0"/>
                  </a:moveTo>
                  <a:lnTo>
                    <a:pt x="3531070" y="0"/>
                  </a:lnTo>
                  <a:lnTo>
                    <a:pt x="3531070" y="768008"/>
                  </a:lnTo>
                  <a:lnTo>
                    <a:pt x="0" y="768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4910863" y="1626302"/>
              <a:ext cx="2272184" cy="738460"/>
            </a:xfrm>
            <a:custGeom>
              <a:avLst/>
              <a:gdLst/>
              <a:ahLst/>
              <a:cxnLst/>
              <a:rect r="r" b="b" t="t" l="l"/>
              <a:pathLst>
                <a:path h="738460" w="2272184">
                  <a:moveTo>
                    <a:pt x="0" y="0"/>
                  </a:moveTo>
                  <a:lnTo>
                    <a:pt x="2272184" y="0"/>
                  </a:lnTo>
                  <a:lnTo>
                    <a:pt x="2272184" y="738460"/>
                  </a:lnTo>
                  <a:lnTo>
                    <a:pt x="0" y="738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020667" y="0"/>
              <a:ext cx="2645383" cy="1488028"/>
            </a:xfrm>
            <a:custGeom>
              <a:avLst/>
              <a:gdLst/>
              <a:ahLst/>
              <a:cxnLst/>
              <a:rect r="r" b="b" t="t" l="l"/>
              <a:pathLst>
                <a:path h="1488028" w="2645383">
                  <a:moveTo>
                    <a:pt x="0" y="0"/>
                  </a:moveTo>
                  <a:lnTo>
                    <a:pt x="2645383" y="0"/>
                  </a:lnTo>
                  <a:lnTo>
                    <a:pt x="2645383" y="1488028"/>
                  </a:lnTo>
                  <a:lnTo>
                    <a:pt x="0" y="1488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3739380" y="1657670"/>
              <a:ext cx="3189240" cy="805283"/>
            </a:xfrm>
            <a:custGeom>
              <a:avLst/>
              <a:gdLst/>
              <a:ahLst/>
              <a:cxnLst/>
              <a:rect r="r" b="b" t="t" l="l"/>
              <a:pathLst>
                <a:path h="805283" w="3189240">
                  <a:moveTo>
                    <a:pt x="0" y="0"/>
                  </a:moveTo>
                  <a:lnTo>
                    <a:pt x="3189240" y="0"/>
                  </a:lnTo>
                  <a:lnTo>
                    <a:pt x="3189240" y="805283"/>
                  </a:lnTo>
                  <a:lnTo>
                    <a:pt x="0" y="805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714500" y="4303395"/>
            <a:ext cx="68580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000" spc="-1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Placed #1 as per leading DSPs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68665" y="5139690"/>
            <a:ext cx="74295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000" spc="-1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8/10 Largest Media Houses run on VDO.AI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14500" y="5979795"/>
            <a:ext cx="714328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000" spc="-1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Spread across 350+Billion Ad Units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009650"/>
            <a:ext cx="6195649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500" spc="-442" b="true">
                <a:solidFill>
                  <a:srgbClr val="4356A4"/>
                </a:solidFill>
                <a:latin typeface="Poppins Bold"/>
                <a:ea typeface="Poppins Bold"/>
                <a:cs typeface="Poppins Bold"/>
                <a:sym typeface="Poppins Bold"/>
              </a:rPr>
              <a:t>Our Premium Direct Supply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02918" y="3432175"/>
            <a:ext cx="5088064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9"/>
              </a:lnSpc>
            </a:pPr>
            <a:r>
              <a:rPr lang="en-US" b="true" sz="2499" spc="124">
                <a:solidFill>
                  <a:srgbClr val="4356A4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KA VIP ZONE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45171"/>
            <a:chOff x="0" y="0"/>
            <a:chExt cx="4816593" cy="4596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59633"/>
            </a:xfrm>
            <a:custGeom>
              <a:avLst/>
              <a:gdLst/>
              <a:ahLst/>
              <a:cxnLst/>
              <a:rect r="r" b="b" t="t" l="l"/>
              <a:pathLst>
                <a:path h="4596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33"/>
                  </a:lnTo>
                  <a:lnTo>
                    <a:pt x="0" y="459633"/>
                  </a:lnTo>
                  <a:close/>
                </a:path>
              </a:pathLst>
            </a:custGeom>
            <a:solidFill>
              <a:srgbClr val="B644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44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71721" y="214052"/>
            <a:ext cx="2268481" cy="1017981"/>
            <a:chOff x="0" y="0"/>
            <a:chExt cx="3024641" cy="13573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24641" cy="1357308"/>
            </a:xfrm>
            <a:custGeom>
              <a:avLst/>
              <a:gdLst/>
              <a:ahLst/>
              <a:cxnLst/>
              <a:rect r="r" b="b" t="t" l="l"/>
              <a:pathLst>
                <a:path h="1357308" w="3024641">
                  <a:moveTo>
                    <a:pt x="0" y="0"/>
                  </a:moveTo>
                  <a:lnTo>
                    <a:pt x="3024641" y="0"/>
                  </a:lnTo>
                  <a:lnTo>
                    <a:pt x="3024641" y="1357308"/>
                  </a:lnTo>
                  <a:lnTo>
                    <a:pt x="0" y="1357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108897" y="426771"/>
              <a:ext cx="806847" cy="503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B644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CTV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3000" y="2250281"/>
            <a:ext cx="7814174" cy="5860997"/>
            <a:chOff x="0" y="0"/>
            <a:chExt cx="2058054" cy="15436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58054" cy="1543637"/>
            </a:xfrm>
            <a:custGeom>
              <a:avLst/>
              <a:gdLst/>
              <a:ahLst/>
              <a:cxnLst/>
              <a:rect r="r" b="b" t="t" l="l"/>
              <a:pathLst>
                <a:path h="1543637" w="2058054">
                  <a:moveTo>
                    <a:pt x="50528" y="0"/>
                  </a:moveTo>
                  <a:lnTo>
                    <a:pt x="2007526" y="0"/>
                  </a:lnTo>
                  <a:cubicBezTo>
                    <a:pt x="2035432" y="0"/>
                    <a:pt x="2058054" y="22622"/>
                    <a:pt x="2058054" y="50528"/>
                  </a:cubicBezTo>
                  <a:lnTo>
                    <a:pt x="2058054" y="1493109"/>
                  </a:lnTo>
                  <a:cubicBezTo>
                    <a:pt x="2058054" y="1506510"/>
                    <a:pt x="2052731" y="1519362"/>
                    <a:pt x="2043255" y="1528838"/>
                  </a:cubicBezTo>
                  <a:cubicBezTo>
                    <a:pt x="2033779" y="1538314"/>
                    <a:pt x="2020927" y="1543637"/>
                    <a:pt x="2007526" y="1543637"/>
                  </a:cubicBezTo>
                  <a:lnTo>
                    <a:pt x="50528" y="1543637"/>
                  </a:lnTo>
                  <a:cubicBezTo>
                    <a:pt x="37127" y="1543637"/>
                    <a:pt x="24275" y="1538314"/>
                    <a:pt x="14799" y="1528838"/>
                  </a:cubicBezTo>
                  <a:cubicBezTo>
                    <a:pt x="5324" y="1519362"/>
                    <a:pt x="0" y="1506510"/>
                    <a:pt x="0" y="1493109"/>
                  </a:cubicBezTo>
                  <a:lnTo>
                    <a:pt x="0" y="50528"/>
                  </a:lnTo>
                  <a:cubicBezTo>
                    <a:pt x="0" y="37127"/>
                    <a:pt x="5324" y="24275"/>
                    <a:pt x="14799" y="14799"/>
                  </a:cubicBezTo>
                  <a:cubicBezTo>
                    <a:pt x="24275" y="5324"/>
                    <a:pt x="37127" y="0"/>
                    <a:pt x="50528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058054" cy="1553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71237" y="2590800"/>
            <a:ext cx="363714" cy="4632787"/>
            <a:chOff x="0" y="0"/>
            <a:chExt cx="484952" cy="61770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907617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6"/>
                  </a:lnTo>
                  <a:lnTo>
                    <a:pt x="0" y="52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3765736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6"/>
                  </a:lnTo>
                  <a:lnTo>
                    <a:pt x="0" y="52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5650842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004799" y="2250281"/>
            <a:ext cx="8406467" cy="7074178"/>
            <a:chOff x="0" y="0"/>
            <a:chExt cx="11208622" cy="9432237"/>
          </a:xfrm>
        </p:grpSpPr>
        <p:sp>
          <p:nvSpPr>
            <p:cNvPr name="Freeform 18" id="18">
              <a:hlinkClick r:id="rId8" tooltip="https://www.vdo.ai/creative-showcase/ctv-too-yumm-voting-poll"/>
            </p:cNvPr>
            <p:cNvSpPr/>
            <p:nvPr/>
          </p:nvSpPr>
          <p:spPr>
            <a:xfrm flipH="false" flipV="false" rot="0">
              <a:off x="0" y="0"/>
              <a:ext cx="7748754" cy="5374326"/>
            </a:xfrm>
            <a:custGeom>
              <a:avLst/>
              <a:gdLst/>
              <a:ahLst/>
              <a:cxnLst/>
              <a:rect r="r" b="b" t="t" l="l"/>
              <a:pathLst>
                <a:path h="5374326" w="7748754">
                  <a:moveTo>
                    <a:pt x="0" y="0"/>
                  </a:moveTo>
                  <a:lnTo>
                    <a:pt x="7748754" y="0"/>
                  </a:lnTo>
                  <a:lnTo>
                    <a:pt x="7748754" y="5374326"/>
                  </a:lnTo>
                  <a:lnTo>
                    <a:pt x="0" y="537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7047" t="-9275" r="-1769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18158" y="3808943"/>
              <a:ext cx="2432714" cy="1620795"/>
            </a:xfrm>
            <a:custGeom>
              <a:avLst/>
              <a:gdLst/>
              <a:ahLst/>
              <a:cxnLst/>
              <a:rect r="r" b="b" t="t" l="l"/>
              <a:pathLst>
                <a:path h="1620795" w="2432714">
                  <a:moveTo>
                    <a:pt x="0" y="0"/>
                  </a:moveTo>
                  <a:lnTo>
                    <a:pt x="2432714" y="0"/>
                  </a:lnTo>
                  <a:lnTo>
                    <a:pt x="2432714" y="1620796"/>
                  </a:lnTo>
                  <a:lnTo>
                    <a:pt x="0" y="1620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0" id="20">
              <a:hlinkClick r:id="rId11" tooltip="https://www.vdo.ai/creative-showcase/ctv-too-yumm-voting-poll"/>
            </p:cNvPr>
            <p:cNvSpPr/>
            <p:nvPr/>
          </p:nvSpPr>
          <p:spPr>
            <a:xfrm flipH="false" flipV="false" rot="0">
              <a:off x="3542242" y="4385719"/>
              <a:ext cx="7666381" cy="5046518"/>
            </a:xfrm>
            <a:custGeom>
              <a:avLst/>
              <a:gdLst/>
              <a:ahLst/>
              <a:cxnLst/>
              <a:rect r="r" b="b" t="t" l="l"/>
              <a:pathLst>
                <a:path h="5046518" w="7666381">
                  <a:moveTo>
                    <a:pt x="0" y="0"/>
                  </a:moveTo>
                  <a:lnTo>
                    <a:pt x="7666380" y="0"/>
                  </a:lnTo>
                  <a:lnTo>
                    <a:pt x="7666380" y="5046518"/>
                  </a:lnTo>
                  <a:lnTo>
                    <a:pt x="0" y="5046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8131" t="-10718" r="-18150" b="-57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8700" y="382925"/>
            <a:ext cx="11860887" cy="979322"/>
            <a:chOff x="0" y="0"/>
            <a:chExt cx="15814516" cy="130576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71450"/>
              <a:ext cx="13645536" cy="975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Remote-Based Integration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926033"/>
              <a:ext cx="15814516" cy="379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Option Configuration, Contextual Carousel, Product Features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103162" y="2505075"/>
            <a:ext cx="6447503" cy="530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11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Cl</a:t>
            </a: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ickable CTAs via Remote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Let vie</a:t>
            </a: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wers interact directly using their TV remote, exploring festive deals, selecting product options etc.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Seamless Big-Screen Browsing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ative browsing experience ideal for catalogues, offers, or product highlights during high-intent festive moments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Discovery &gt; Action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rive real-time decisions &amp; deeper engagement through intuitive, user-led interaction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 Friction, High Intent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Nudging festive shoppers toward action for product features, variants and gift guides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16000" y="1251083"/>
            <a:ext cx="4379924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CPMs </a:t>
            </a:r>
            <a:r>
              <a:rPr lang="en-US" b="true" sz="2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Starting From INR </a:t>
            </a:r>
            <a:r>
              <a:rPr lang="en-US" b="true" sz="2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380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43000" y="8482753"/>
            <a:ext cx="5638937" cy="785717"/>
            <a:chOff x="0" y="0"/>
            <a:chExt cx="1485152" cy="206938"/>
          </a:xfrm>
        </p:grpSpPr>
        <p:sp>
          <p:nvSpPr>
            <p:cNvPr name="Freeform 27" id="27">
              <a:hlinkClick r:id="rId12" tooltip="https://www.vdo.ai/creative-showcase/ctv-too-yumm-voting-poll"/>
            </p:cNvPr>
            <p:cNvSpPr/>
            <p:nvPr/>
          </p:nvSpPr>
          <p:spPr>
            <a:xfrm flipH="false" flipV="false" rot="0">
              <a:off x="0" y="0"/>
              <a:ext cx="1485152" cy="206938"/>
            </a:xfrm>
            <a:custGeom>
              <a:avLst/>
              <a:gdLst/>
              <a:ahLst/>
              <a:cxnLst/>
              <a:rect r="r" b="b" t="t" l="l"/>
              <a:pathLst>
                <a:path h="206938" w="1485152">
                  <a:moveTo>
                    <a:pt x="26086" y="0"/>
                  </a:moveTo>
                  <a:lnTo>
                    <a:pt x="1459066" y="0"/>
                  </a:lnTo>
                  <a:cubicBezTo>
                    <a:pt x="1473473" y="0"/>
                    <a:pt x="1485152" y="11679"/>
                    <a:pt x="1485152" y="26086"/>
                  </a:cubicBezTo>
                  <a:lnTo>
                    <a:pt x="1485152" y="180852"/>
                  </a:lnTo>
                  <a:cubicBezTo>
                    <a:pt x="1485152" y="195259"/>
                    <a:pt x="1473473" y="206938"/>
                    <a:pt x="1459066" y="206938"/>
                  </a:cubicBezTo>
                  <a:lnTo>
                    <a:pt x="26086" y="206938"/>
                  </a:lnTo>
                  <a:cubicBezTo>
                    <a:pt x="11679" y="206938"/>
                    <a:pt x="0" y="195259"/>
                    <a:pt x="0" y="180852"/>
                  </a:cubicBezTo>
                  <a:lnTo>
                    <a:pt x="0" y="26086"/>
                  </a:lnTo>
                  <a:cubicBezTo>
                    <a:pt x="0" y="11679"/>
                    <a:pt x="11679" y="0"/>
                    <a:pt x="26086" y="0"/>
                  </a:cubicBezTo>
                  <a:close/>
                </a:path>
              </a:pathLst>
            </a:custGeom>
            <a:solidFill>
              <a:srgbClr val="B6444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485152" cy="254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142178" y="8696292"/>
            <a:ext cx="372715" cy="372715"/>
          </a:xfrm>
          <a:custGeom>
            <a:avLst/>
            <a:gdLst/>
            <a:ahLst/>
            <a:cxnLst/>
            <a:rect r="r" b="b" t="t" l="l"/>
            <a:pathLst>
              <a:path h="372715" w="372715">
                <a:moveTo>
                  <a:pt x="0" y="0"/>
                </a:moveTo>
                <a:lnTo>
                  <a:pt x="372716" y="0"/>
                </a:lnTo>
                <a:lnTo>
                  <a:pt x="372716" y="372715"/>
                </a:lnTo>
                <a:lnTo>
                  <a:pt x="0" y="3727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71237" y="8724990"/>
            <a:ext cx="4434779" cy="27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Click Here for a Working Mockup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9410184"/>
            <a:ext cx="8146751" cy="22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*The above link is only</a:t>
            </a: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representation purposes and should serve only as a reference.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45171"/>
            <a:chOff x="0" y="0"/>
            <a:chExt cx="4816593" cy="4596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59633"/>
            </a:xfrm>
            <a:custGeom>
              <a:avLst/>
              <a:gdLst/>
              <a:ahLst/>
              <a:cxnLst/>
              <a:rect r="r" b="b" t="t" l="l"/>
              <a:pathLst>
                <a:path h="4596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33"/>
                  </a:lnTo>
                  <a:lnTo>
                    <a:pt x="0" y="459633"/>
                  </a:lnTo>
                  <a:close/>
                </a:path>
              </a:pathLst>
            </a:custGeom>
            <a:solidFill>
              <a:srgbClr val="4356A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44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2250281"/>
            <a:ext cx="7814174" cy="5860997"/>
            <a:chOff x="0" y="0"/>
            <a:chExt cx="2058054" cy="15436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8054" cy="1543637"/>
            </a:xfrm>
            <a:custGeom>
              <a:avLst/>
              <a:gdLst/>
              <a:ahLst/>
              <a:cxnLst/>
              <a:rect r="r" b="b" t="t" l="l"/>
              <a:pathLst>
                <a:path h="1543637" w="2058054">
                  <a:moveTo>
                    <a:pt x="50528" y="0"/>
                  </a:moveTo>
                  <a:lnTo>
                    <a:pt x="2007526" y="0"/>
                  </a:lnTo>
                  <a:cubicBezTo>
                    <a:pt x="2035432" y="0"/>
                    <a:pt x="2058054" y="22622"/>
                    <a:pt x="2058054" y="50528"/>
                  </a:cubicBezTo>
                  <a:lnTo>
                    <a:pt x="2058054" y="1493109"/>
                  </a:lnTo>
                  <a:cubicBezTo>
                    <a:pt x="2058054" y="1506510"/>
                    <a:pt x="2052731" y="1519362"/>
                    <a:pt x="2043255" y="1528838"/>
                  </a:cubicBezTo>
                  <a:cubicBezTo>
                    <a:pt x="2033779" y="1538314"/>
                    <a:pt x="2020927" y="1543637"/>
                    <a:pt x="2007526" y="1543637"/>
                  </a:cubicBezTo>
                  <a:lnTo>
                    <a:pt x="50528" y="1543637"/>
                  </a:lnTo>
                  <a:cubicBezTo>
                    <a:pt x="37127" y="1543637"/>
                    <a:pt x="24275" y="1538314"/>
                    <a:pt x="14799" y="1528838"/>
                  </a:cubicBezTo>
                  <a:cubicBezTo>
                    <a:pt x="5324" y="1519362"/>
                    <a:pt x="0" y="1506510"/>
                    <a:pt x="0" y="1493109"/>
                  </a:cubicBezTo>
                  <a:lnTo>
                    <a:pt x="0" y="50528"/>
                  </a:lnTo>
                  <a:cubicBezTo>
                    <a:pt x="0" y="37127"/>
                    <a:pt x="5324" y="24275"/>
                    <a:pt x="14799" y="14799"/>
                  </a:cubicBezTo>
                  <a:cubicBezTo>
                    <a:pt x="24275" y="5324"/>
                    <a:pt x="37127" y="0"/>
                    <a:pt x="50528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58054" cy="1553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2952" y="2590800"/>
            <a:ext cx="363714" cy="4632787"/>
            <a:chOff x="0" y="0"/>
            <a:chExt cx="484952" cy="61770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907617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6"/>
                  </a:lnTo>
                  <a:lnTo>
                    <a:pt x="0" y="52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3765736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6"/>
                  </a:lnTo>
                  <a:lnTo>
                    <a:pt x="0" y="52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5650842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289751" y="2764588"/>
            <a:ext cx="8065578" cy="5346690"/>
          </a:xfrm>
          <a:custGeom>
            <a:avLst/>
            <a:gdLst/>
            <a:ahLst/>
            <a:cxnLst/>
            <a:rect r="r" b="b" t="t" l="l"/>
            <a:pathLst>
              <a:path h="5346690" w="8065578">
                <a:moveTo>
                  <a:pt x="0" y="0"/>
                </a:moveTo>
                <a:lnTo>
                  <a:pt x="8065578" y="0"/>
                </a:lnTo>
                <a:lnTo>
                  <a:pt x="8065578" y="5346690"/>
                </a:lnTo>
                <a:lnTo>
                  <a:pt x="0" y="5346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697" t="-3950" r="-14416" b="-476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382925"/>
            <a:ext cx="11860887" cy="979322"/>
            <a:chOff x="0" y="0"/>
            <a:chExt cx="15814516" cy="130576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71450"/>
              <a:ext cx="13645536" cy="975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Countdown-Based 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26033"/>
              <a:ext cx="15814516" cy="379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Sales/Product Launch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089719" y="2505075"/>
            <a:ext cx="6447503" cy="530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Live Countdown Timer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Showcases a dynamic, real-time countdown leading up to your launch or offer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QR Code Integration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Let viewers scan to set reminders, add to calendars, or explore pre-launch exclusives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Festive Urgency, Done Right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Perfect for Diwali drops, limited-time offers, or big unveilings, driving FOMO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Lean Into Attention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Turns passive viewing into active engagement, capturing interest when audiences are receptive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771721" y="214052"/>
            <a:ext cx="2268481" cy="1017981"/>
            <a:chOff x="0" y="0"/>
            <a:chExt cx="3024641" cy="13573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24641" cy="1357308"/>
            </a:xfrm>
            <a:custGeom>
              <a:avLst/>
              <a:gdLst/>
              <a:ahLst/>
              <a:cxnLst/>
              <a:rect r="r" b="b" t="t" l="l"/>
              <a:pathLst>
                <a:path h="1357308" w="3024641">
                  <a:moveTo>
                    <a:pt x="0" y="0"/>
                  </a:moveTo>
                  <a:lnTo>
                    <a:pt x="3024641" y="0"/>
                  </a:lnTo>
                  <a:lnTo>
                    <a:pt x="3024641" y="1357308"/>
                  </a:lnTo>
                  <a:lnTo>
                    <a:pt x="0" y="1357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108897" y="426771"/>
              <a:ext cx="806847" cy="503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B644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CTV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16000" y="1251083"/>
            <a:ext cx="4379924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CPMs </a:t>
            </a:r>
            <a:r>
              <a:rPr lang="en-US" b="true" sz="2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Starting From INR </a:t>
            </a:r>
            <a:r>
              <a:rPr lang="en-US" b="true" sz="2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380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3000" y="8482753"/>
            <a:ext cx="5638937" cy="785717"/>
            <a:chOff x="0" y="0"/>
            <a:chExt cx="1485152" cy="206938"/>
          </a:xfrm>
        </p:grpSpPr>
        <p:sp>
          <p:nvSpPr>
            <p:cNvPr name="Freeform 24" id="24">
              <a:hlinkClick r:id="rId8" tooltip="https://www.vdo.ai/creative-showcase/ctv-tata-coffee-live-weather-based"/>
            </p:cNvPr>
            <p:cNvSpPr/>
            <p:nvPr/>
          </p:nvSpPr>
          <p:spPr>
            <a:xfrm flipH="false" flipV="false" rot="0">
              <a:off x="0" y="0"/>
              <a:ext cx="1485152" cy="206938"/>
            </a:xfrm>
            <a:custGeom>
              <a:avLst/>
              <a:gdLst/>
              <a:ahLst/>
              <a:cxnLst/>
              <a:rect r="r" b="b" t="t" l="l"/>
              <a:pathLst>
                <a:path h="206938" w="1485152">
                  <a:moveTo>
                    <a:pt x="26086" y="0"/>
                  </a:moveTo>
                  <a:lnTo>
                    <a:pt x="1459066" y="0"/>
                  </a:lnTo>
                  <a:cubicBezTo>
                    <a:pt x="1473473" y="0"/>
                    <a:pt x="1485152" y="11679"/>
                    <a:pt x="1485152" y="26086"/>
                  </a:cubicBezTo>
                  <a:lnTo>
                    <a:pt x="1485152" y="180852"/>
                  </a:lnTo>
                  <a:cubicBezTo>
                    <a:pt x="1485152" y="195259"/>
                    <a:pt x="1473473" y="206938"/>
                    <a:pt x="1459066" y="206938"/>
                  </a:cubicBezTo>
                  <a:lnTo>
                    <a:pt x="26086" y="206938"/>
                  </a:lnTo>
                  <a:cubicBezTo>
                    <a:pt x="11679" y="206938"/>
                    <a:pt x="0" y="195259"/>
                    <a:pt x="0" y="180852"/>
                  </a:cubicBezTo>
                  <a:lnTo>
                    <a:pt x="0" y="26086"/>
                  </a:lnTo>
                  <a:cubicBezTo>
                    <a:pt x="0" y="11679"/>
                    <a:pt x="11679" y="0"/>
                    <a:pt x="26086" y="0"/>
                  </a:cubicBezTo>
                  <a:close/>
                </a:path>
              </a:pathLst>
            </a:custGeom>
            <a:solidFill>
              <a:srgbClr val="4356A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485152" cy="254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71237" y="8724990"/>
            <a:ext cx="4434779" cy="27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Click Here for a Reference Working Mockup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3000" y="9410184"/>
            <a:ext cx="8146751" cy="22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*The above link is only</a:t>
            </a: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representation purposes and should serve only as a reference. 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142178" y="8696292"/>
            <a:ext cx="372715" cy="372715"/>
          </a:xfrm>
          <a:custGeom>
            <a:avLst/>
            <a:gdLst/>
            <a:ahLst/>
            <a:cxnLst/>
            <a:rect r="r" b="b" t="t" l="l"/>
            <a:pathLst>
              <a:path h="372715" w="372715">
                <a:moveTo>
                  <a:pt x="0" y="0"/>
                </a:moveTo>
                <a:lnTo>
                  <a:pt x="372716" y="0"/>
                </a:lnTo>
                <a:lnTo>
                  <a:pt x="372716" y="372715"/>
                </a:lnTo>
                <a:lnTo>
                  <a:pt x="0" y="3727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45171"/>
            <a:chOff x="0" y="0"/>
            <a:chExt cx="4816593" cy="4596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59633"/>
            </a:xfrm>
            <a:custGeom>
              <a:avLst/>
              <a:gdLst/>
              <a:ahLst/>
              <a:cxnLst/>
              <a:rect r="r" b="b" t="t" l="l"/>
              <a:pathLst>
                <a:path h="4596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33"/>
                  </a:lnTo>
                  <a:lnTo>
                    <a:pt x="0" y="459633"/>
                  </a:lnTo>
                  <a:close/>
                </a:path>
              </a:pathLst>
            </a:custGeom>
            <a:solidFill>
              <a:srgbClr val="B644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44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82925"/>
            <a:ext cx="11860887" cy="979322"/>
            <a:chOff x="0" y="0"/>
            <a:chExt cx="15814516" cy="13057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71450"/>
              <a:ext cx="13645536" cy="975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Dynamic Creative Optimisation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26033"/>
              <a:ext cx="15814516" cy="379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Affinity, AQI, Temperature, Weather, Stock Market Based Customisation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3000" y="2250281"/>
            <a:ext cx="7814174" cy="5860997"/>
            <a:chOff x="0" y="0"/>
            <a:chExt cx="2058054" cy="15436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58054" cy="1543637"/>
            </a:xfrm>
            <a:custGeom>
              <a:avLst/>
              <a:gdLst/>
              <a:ahLst/>
              <a:cxnLst/>
              <a:rect r="r" b="b" t="t" l="l"/>
              <a:pathLst>
                <a:path h="1543637" w="2058054">
                  <a:moveTo>
                    <a:pt x="50528" y="0"/>
                  </a:moveTo>
                  <a:lnTo>
                    <a:pt x="2007526" y="0"/>
                  </a:lnTo>
                  <a:cubicBezTo>
                    <a:pt x="2035432" y="0"/>
                    <a:pt x="2058054" y="22622"/>
                    <a:pt x="2058054" y="50528"/>
                  </a:cubicBezTo>
                  <a:lnTo>
                    <a:pt x="2058054" y="1493109"/>
                  </a:lnTo>
                  <a:cubicBezTo>
                    <a:pt x="2058054" y="1506510"/>
                    <a:pt x="2052731" y="1519362"/>
                    <a:pt x="2043255" y="1528838"/>
                  </a:cubicBezTo>
                  <a:cubicBezTo>
                    <a:pt x="2033779" y="1538314"/>
                    <a:pt x="2020927" y="1543637"/>
                    <a:pt x="2007526" y="1543637"/>
                  </a:cubicBezTo>
                  <a:lnTo>
                    <a:pt x="50528" y="1543637"/>
                  </a:lnTo>
                  <a:cubicBezTo>
                    <a:pt x="37127" y="1543637"/>
                    <a:pt x="24275" y="1538314"/>
                    <a:pt x="14799" y="1528838"/>
                  </a:cubicBezTo>
                  <a:cubicBezTo>
                    <a:pt x="5324" y="1519362"/>
                    <a:pt x="0" y="1506510"/>
                    <a:pt x="0" y="1493109"/>
                  </a:cubicBezTo>
                  <a:lnTo>
                    <a:pt x="0" y="50528"/>
                  </a:lnTo>
                  <a:cubicBezTo>
                    <a:pt x="0" y="37127"/>
                    <a:pt x="5324" y="24275"/>
                    <a:pt x="14799" y="14799"/>
                  </a:cubicBezTo>
                  <a:cubicBezTo>
                    <a:pt x="24275" y="5324"/>
                    <a:pt x="37127" y="0"/>
                    <a:pt x="50528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058054" cy="1553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7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73156" y="2505075"/>
            <a:ext cx="6867455" cy="530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-11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</a:t>
            </a: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 Festive Personalisation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Tailo</a:t>
            </a: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messages in real-time, crafting festive stories that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feel personal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 That Clicks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rigger creative adapts using live signals like AQI, temperature, or weather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Realtime Sentiment Sync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eact to cultural, emotional, or market moments, customise based on mood-based content cues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One Campaign. Infinite Variations.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Deliver festive storytelling at scale, dynamic headlines, visuals, &amp; offers that adjust based on who’s watching &amp; when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446389" y="2600325"/>
            <a:ext cx="363714" cy="4632787"/>
            <a:chOff x="0" y="0"/>
            <a:chExt cx="484952" cy="61770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907617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6"/>
                  </a:lnTo>
                  <a:lnTo>
                    <a:pt x="0" y="52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3765736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6"/>
                  </a:lnTo>
                  <a:lnTo>
                    <a:pt x="0" y="52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5650842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9289751" y="2441632"/>
            <a:ext cx="8115300" cy="5467683"/>
          </a:xfrm>
          <a:custGeom>
            <a:avLst/>
            <a:gdLst/>
            <a:ahLst/>
            <a:cxnLst/>
            <a:rect r="r" b="b" t="t" l="l"/>
            <a:pathLst>
              <a:path h="5467683" w="8115300">
                <a:moveTo>
                  <a:pt x="0" y="0"/>
                </a:moveTo>
                <a:lnTo>
                  <a:pt x="8115300" y="0"/>
                </a:lnTo>
                <a:lnTo>
                  <a:pt x="8115300" y="5467684"/>
                </a:lnTo>
                <a:lnTo>
                  <a:pt x="0" y="5467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6" t="0" r="-76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391681" y="7183181"/>
            <a:ext cx="5928704" cy="928097"/>
          </a:xfrm>
          <a:custGeom>
            <a:avLst/>
            <a:gdLst/>
            <a:ahLst/>
            <a:cxnLst/>
            <a:rect r="r" b="b" t="t" l="l"/>
            <a:pathLst>
              <a:path h="928097" w="5928704">
                <a:moveTo>
                  <a:pt x="0" y="0"/>
                </a:moveTo>
                <a:lnTo>
                  <a:pt x="5928704" y="0"/>
                </a:lnTo>
                <a:lnTo>
                  <a:pt x="5928704" y="928097"/>
                </a:lnTo>
                <a:lnTo>
                  <a:pt x="0" y="928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58890" r="0" b="0"/>
            </a:stretch>
          </a:blipFill>
          <a:ln w="38100" cap="sq">
            <a:solidFill>
              <a:srgbClr val="7BB161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4771721" y="214052"/>
            <a:ext cx="2268481" cy="1017981"/>
            <a:chOff x="0" y="0"/>
            <a:chExt cx="3024641" cy="13573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24641" cy="1357308"/>
            </a:xfrm>
            <a:custGeom>
              <a:avLst/>
              <a:gdLst/>
              <a:ahLst/>
              <a:cxnLst/>
              <a:rect r="r" b="b" t="t" l="l"/>
              <a:pathLst>
                <a:path h="1357308" w="3024641">
                  <a:moveTo>
                    <a:pt x="0" y="0"/>
                  </a:moveTo>
                  <a:lnTo>
                    <a:pt x="3024641" y="0"/>
                  </a:lnTo>
                  <a:lnTo>
                    <a:pt x="3024641" y="1357308"/>
                  </a:lnTo>
                  <a:lnTo>
                    <a:pt x="0" y="1357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108897" y="426771"/>
              <a:ext cx="806847" cy="503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B644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CTV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716000" y="1251083"/>
            <a:ext cx="4379924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CPMs </a:t>
            </a:r>
            <a:r>
              <a:rPr lang="en-US" b="true" sz="2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Starting From INR </a:t>
            </a:r>
            <a:r>
              <a:rPr lang="en-US" b="true" sz="2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380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43000" y="8482753"/>
            <a:ext cx="5638937" cy="785717"/>
            <a:chOff x="0" y="0"/>
            <a:chExt cx="1485152" cy="206938"/>
          </a:xfrm>
        </p:grpSpPr>
        <p:sp>
          <p:nvSpPr>
            <p:cNvPr name="Freeform 25" id="25">
              <a:hlinkClick r:id="rId9" tooltip="https://www.vdo.ai/creative-showcase/ctv-hyundai-geo-location-ctv"/>
            </p:cNvPr>
            <p:cNvSpPr/>
            <p:nvPr/>
          </p:nvSpPr>
          <p:spPr>
            <a:xfrm flipH="false" flipV="false" rot="0">
              <a:off x="0" y="0"/>
              <a:ext cx="1485152" cy="206938"/>
            </a:xfrm>
            <a:custGeom>
              <a:avLst/>
              <a:gdLst/>
              <a:ahLst/>
              <a:cxnLst/>
              <a:rect r="r" b="b" t="t" l="l"/>
              <a:pathLst>
                <a:path h="206938" w="1485152">
                  <a:moveTo>
                    <a:pt x="26086" y="0"/>
                  </a:moveTo>
                  <a:lnTo>
                    <a:pt x="1459066" y="0"/>
                  </a:lnTo>
                  <a:cubicBezTo>
                    <a:pt x="1473473" y="0"/>
                    <a:pt x="1485152" y="11679"/>
                    <a:pt x="1485152" y="26086"/>
                  </a:cubicBezTo>
                  <a:lnTo>
                    <a:pt x="1485152" y="180852"/>
                  </a:lnTo>
                  <a:cubicBezTo>
                    <a:pt x="1485152" y="195259"/>
                    <a:pt x="1473473" y="206938"/>
                    <a:pt x="1459066" y="206938"/>
                  </a:cubicBezTo>
                  <a:lnTo>
                    <a:pt x="26086" y="206938"/>
                  </a:lnTo>
                  <a:cubicBezTo>
                    <a:pt x="11679" y="206938"/>
                    <a:pt x="0" y="195259"/>
                    <a:pt x="0" y="180852"/>
                  </a:cubicBezTo>
                  <a:lnTo>
                    <a:pt x="0" y="26086"/>
                  </a:lnTo>
                  <a:cubicBezTo>
                    <a:pt x="0" y="11679"/>
                    <a:pt x="11679" y="0"/>
                    <a:pt x="26086" y="0"/>
                  </a:cubicBezTo>
                  <a:close/>
                </a:path>
              </a:pathLst>
            </a:custGeom>
            <a:solidFill>
              <a:srgbClr val="B6444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485152" cy="254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571237" y="8724990"/>
            <a:ext cx="4434779" cy="27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Click Here for a Reference Working Mockup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3000" y="9410184"/>
            <a:ext cx="8146751" cy="22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*The above link is only</a:t>
            </a: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representation purposes and should serve only as a reference. 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142178" y="8696292"/>
            <a:ext cx="372715" cy="372715"/>
          </a:xfrm>
          <a:custGeom>
            <a:avLst/>
            <a:gdLst/>
            <a:ahLst/>
            <a:cxnLst/>
            <a:rect r="r" b="b" t="t" l="l"/>
            <a:pathLst>
              <a:path h="372715" w="372715">
                <a:moveTo>
                  <a:pt x="0" y="0"/>
                </a:moveTo>
                <a:lnTo>
                  <a:pt x="372716" y="0"/>
                </a:lnTo>
                <a:lnTo>
                  <a:pt x="372716" y="372715"/>
                </a:lnTo>
                <a:lnTo>
                  <a:pt x="0" y="372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45171"/>
            <a:chOff x="0" y="0"/>
            <a:chExt cx="4816593" cy="4596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59633"/>
            </a:xfrm>
            <a:custGeom>
              <a:avLst/>
              <a:gdLst/>
              <a:ahLst/>
              <a:cxnLst/>
              <a:rect r="r" b="b" t="t" l="l"/>
              <a:pathLst>
                <a:path h="4596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33"/>
                  </a:lnTo>
                  <a:lnTo>
                    <a:pt x="0" y="459633"/>
                  </a:lnTo>
                  <a:close/>
                </a:path>
              </a:pathLst>
            </a:custGeom>
            <a:solidFill>
              <a:srgbClr val="4356A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44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2250281"/>
            <a:ext cx="7814174" cy="5860997"/>
            <a:chOff x="0" y="0"/>
            <a:chExt cx="2058054" cy="15436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8054" cy="1543637"/>
            </a:xfrm>
            <a:custGeom>
              <a:avLst/>
              <a:gdLst/>
              <a:ahLst/>
              <a:cxnLst/>
              <a:rect r="r" b="b" t="t" l="l"/>
              <a:pathLst>
                <a:path h="1543637" w="2058054">
                  <a:moveTo>
                    <a:pt x="50528" y="0"/>
                  </a:moveTo>
                  <a:lnTo>
                    <a:pt x="2007526" y="0"/>
                  </a:lnTo>
                  <a:cubicBezTo>
                    <a:pt x="2035432" y="0"/>
                    <a:pt x="2058054" y="22622"/>
                    <a:pt x="2058054" y="50528"/>
                  </a:cubicBezTo>
                  <a:lnTo>
                    <a:pt x="2058054" y="1493109"/>
                  </a:lnTo>
                  <a:cubicBezTo>
                    <a:pt x="2058054" y="1506510"/>
                    <a:pt x="2052731" y="1519362"/>
                    <a:pt x="2043255" y="1528838"/>
                  </a:cubicBezTo>
                  <a:cubicBezTo>
                    <a:pt x="2033779" y="1538314"/>
                    <a:pt x="2020927" y="1543637"/>
                    <a:pt x="2007526" y="1543637"/>
                  </a:cubicBezTo>
                  <a:lnTo>
                    <a:pt x="50528" y="1543637"/>
                  </a:lnTo>
                  <a:cubicBezTo>
                    <a:pt x="37127" y="1543637"/>
                    <a:pt x="24275" y="1538314"/>
                    <a:pt x="14799" y="1528838"/>
                  </a:cubicBezTo>
                  <a:cubicBezTo>
                    <a:pt x="5324" y="1519362"/>
                    <a:pt x="0" y="1506510"/>
                    <a:pt x="0" y="1493109"/>
                  </a:cubicBezTo>
                  <a:lnTo>
                    <a:pt x="0" y="50528"/>
                  </a:lnTo>
                  <a:cubicBezTo>
                    <a:pt x="0" y="37127"/>
                    <a:pt x="5324" y="24275"/>
                    <a:pt x="14799" y="14799"/>
                  </a:cubicBezTo>
                  <a:cubicBezTo>
                    <a:pt x="24275" y="5324"/>
                    <a:pt x="37127" y="0"/>
                    <a:pt x="50528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58054" cy="1553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0069" y="2809028"/>
            <a:ext cx="7192431" cy="5235575"/>
            <a:chOff x="0" y="0"/>
            <a:chExt cx="9589908" cy="69807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724732" y="-66675"/>
              <a:ext cx="8865176" cy="7047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Interactive Drawer Overlay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Adds c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ickable options within the video frame, pushing viewers toward high-intent actions like exploring offers or scheduling visits.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Location-Driven CTA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Integrates Google Maps redirection for a seamless transition from screen to store, ideal for driving real-world outcomes.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Design</a:t>
              </a: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ed for Lower-Funnel Impact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Moves viewers from interest to in-person interaction,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boosting footfall, trials, or offline conversions during festive peaks.</a:t>
              </a:r>
            </a:p>
            <a:p>
              <a:pPr algn="l">
                <a:lnSpc>
                  <a:spcPts val="2800"/>
                </a:lnSpc>
              </a:pP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31111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2460718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4808723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144000" y="2503008"/>
            <a:ext cx="8337984" cy="5847615"/>
          </a:xfrm>
          <a:custGeom>
            <a:avLst/>
            <a:gdLst/>
            <a:ahLst/>
            <a:cxnLst/>
            <a:rect r="r" b="b" t="t" l="l"/>
            <a:pathLst>
              <a:path h="5847615" w="8337984">
                <a:moveTo>
                  <a:pt x="0" y="0"/>
                </a:moveTo>
                <a:lnTo>
                  <a:pt x="8337984" y="0"/>
                </a:lnTo>
                <a:lnTo>
                  <a:pt x="8337984" y="5847615"/>
                </a:lnTo>
                <a:lnTo>
                  <a:pt x="0" y="5847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301" t="-17732" r="-32295" b="-17491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382925"/>
            <a:ext cx="11860887" cy="979322"/>
            <a:chOff x="0" y="0"/>
            <a:chExt cx="15814516" cy="130576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71450"/>
              <a:ext cx="13645536" cy="975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Advanced OLV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26033"/>
              <a:ext cx="15814516" cy="379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Showcasing Options, Features &amp; Festive Value; Driving Footfall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71721" y="214052"/>
            <a:ext cx="2268481" cy="1017981"/>
            <a:chOff x="0" y="0"/>
            <a:chExt cx="3024641" cy="13573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24641" cy="1357308"/>
            </a:xfrm>
            <a:custGeom>
              <a:avLst/>
              <a:gdLst/>
              <a:ahLst/>
              <a:cxnLst/>
              <a:rect r="r" b="b" t="t" l="l"/>
              <a:pathLst>
                <a:path h="1357308" w="3024641">
                  <a:moveTo>
                    <a:pt x="0" y="0"/>
                  </a:moveTo>
                  <a:lnTo>
                    <a:pt x="3024641" y="0"/>
                  </a:lnTo>
                  <a:lnTo>
                    <a:pt x="3024641" y="1357308"/>
                  </a:lnTo>
                  <a:lnTo>
                    <a:pt x="0" y="1357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108897" y="426771"/>
              <a:ext cx="806847" cy="503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B644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OLV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716000" y="1251083"/>
            <a:ext cx="4379924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CPMs </a:t>
            </a:r>
            <a:r>
              <a:rPr lang="en-US" b="true" sz="2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Starting From INR 165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8482753"/>
            <a:ext cx="5638937" cy="785717"/>
            <a:chOff x="0" y="0"/>
            <a:chExt cx="1485152" cy="206938"/>
          </a:xfrm>
        </p:grpSpPr>
        <p:sp>
          <p:nvSpPr>
            <p:cNvPr name="Freeform 23" id="23">
              <a:hlinkClick r:id="rId8" tooltip="https://www.vdo.ai/creative-showcase/olv-flipkart-advanced-olv-carousel-overlay"/>
            </p:cNvPr>
            <p:cNvSpPr/>
            <p:nvPr/>
          </p:nvSpPr>
          <p:spPr>
            <a:xfrm flipH="false" flipV="false" rot="0">
              <a:off x="0" y="0"/>
              <a:ext cx="1485152" cy="206938"/>
            </a:xfrm>
            <a:custGeom>
              <a:avLst/>
              <a:gdLst/>
              <a:ahLst/>
              <a:cxnLst/>
              <a:rect r="r" b="b" t="t" l="l"/>
              <a:pathLst>
                <a:path h="206938" w="1485152">
                  <a:moveTo>
                    <a:pt x="26086" y="0"/>
                  </a:moveTo>
                  <a:lnTo>
                    <a:pt x="1459066" y="0"/>
                  </a:lnTo>
                  <a:cubicBezTo>
                    <a:pt x="1473473" y="0"/>
                    <a:pt x="1485152" y="11679"/>
                    <a:pt x="1485152" y="26086"/>
                  </a:cubicBezTo>
                  <a:lnTo>
                    <a:pt x="1485152" y="180852"/>
                  </a:lnTo>
                  <a:cubicBezTo>
                    <a:pt x="1485152" y="195259"/>
                    <a:pt x="1473473" y="206938"/>
                    <a:pt x="1459066" y="206938"/>
                  </a:cubicBezTo>
                  <a:lnTo>
                    <a:pt x="26086" y="206938"/>
                  </a:lnTo>
                  <a:cubicBezTo>
                    <a:pt x="11679" y="206938"/>
                    <a:pt x="0" y="195259"/>
                    <a:pt x="0" y="180852"/>
                  </a:cubicBezTo>
                  <a:lnTo>
                    <a:pt x="0" y="26086"/>
                  </a:lnTo>
                  <a:cubicBezTo>
                    <a:pt x="0" y="11679"/>
                    <a:pt x="11679" y="0"/>
                    <a:pt x="26086" y="0"/>
                  </a:cubicBezTo>
                  <a:close/>
                </a:path>
              </a:pathLst>
            </a:custGeom>
            <a:solidFill>
              <a:srgbClr val="4356A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85152" cy="254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71237" y="8724990"/>
            <a:ext cx="4434779" cy="27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Click Here for a Reference Working Mockup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3000" y="9410184"/>
            <a:ext cx="8146751" cy="22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*The above link is only</a:t>
            </a: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representation purposes and should serve only as a reference. 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142178" y="8696292"/>
            <a:ext cx="372715" cy="372715"/>
          </a:xfrm>
          <a:custGeom>
            <a:avLst/>
            <a:gdLst/>
            <a:ahLst/>
            <a:cxnLst/>
            <a:rect r="r" b="b" t="t" l="l"/>
            <a:pathLst>
              <a:path h="372715" w="372715">
                <a:moveTo>
                  <a:pt x="0" y="0"/>
                </a:moveTo>
                <a:lnTo>
                  <a:pt x="372716" y="0"/>
                </a:lnTo>
                <a:lnTo>
                  <a:pt x="372716" y="372715"/>
                </a:lnTo>
                <a:lnTo>
                  <a:pt x="0" y="3727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45171"/>
            <a:chOff x="0" y="0"/>
            <a:chExt cx="4816593" cy="4596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59633"/>
            </a:xfrm>
            <a:custGeom>
              <a:avLst/>
              <a:gdLst/>
              <a:ahLst/>
              <a:cxnLst/>
              <a:rect r="r" b="b" t="t" l="l"/>
              <a:pathLst>
                <a:path h="4596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33"/>
                  </a:lnTo>
                  <a:lnTo>
                    <a:pt x="0" y="459633"/>
                  </a:lnTo>
                  <a:close/>
                </a:path>
              </a:pathLst>
            </a:custGeom>
            <a:solidFill>
              <a:srgbClr val="B644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44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82925"/>
            <a:ext cx="11860887" cy="979322"/>
            <a:chOff x="0" y="0"/>
            <a:chExt cx="15814516" cy="13057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71450"/>
              <a:ext cx="13645536" cy="975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In-Frame Expandable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26033"/>
              <a:ext cx="15814516" cy="379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Layered Storytelling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140052" y="3137820"/>
            <a:ext cx="8119248" cy="5216617"/>
          </a:xfrm>
          <a:custGeom>
            <a:avLst/>
            <a:gdLst/>
            <a:ahLst/>
            <a:cxnLst/>
            <a:rect r="r" b="b" t="t" l="l"/>
            <a:pathLst>
              <a:path h="5216617" w="8119248">
                <a:moveTo>
                  <a:pt x="0" y="0"/>
                </a:moveTo>
                <a:lnTo>
                  <a:pt x="8119248" y="0"/>
                </a:lnTo>
                <a:lnTo>
                  <a:pt x="8119248" y="5216617"/>
                </a:lnTo>
                <a:lnTo>
                  <a:pt x="0" y="5216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43000" y="2250281"/>
            <a:ext cx="7814174" cy="5860997"/>
            <a:chOff x="0" y="0"/>
            <a:chExt cx="2058054" cy="15436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8054" cy="1543637"/>
            </a:xfrm>
            <a:custGeom>
              <a:avLst/>
              <a:gdLst/>
              <a:ahLst/>
              <a:cxnLst/>
              <a:rect r="r" b="b" t="t" l="l"/>
              <a:pathLst>
                <a:path h="1543637" w="2058054">
                  <a:moveTo>
                    <a:pt x="50528" y="0"/>
                  </a:moveTo>
                  <a:lnTo>
                    <a:pt x="2007526" y="0"/>
                  </a:lnTo>
                  <a:cubicBezTo>
                    <a:pt x="2035432" y="0"/>
                    <a:pt x="2058054" y="22622"/>
                    <a:pt x="2058054" y="50528"/>
                  </a:cubicBezTo>
                  <a:lnTo>
                    <a:pt x="2058054" y="1493109"/>
                  </a:lnTo>
                  <a:cubicBezTo>
                    <a:pt x="2058054" y="1506510"/>
                    <a:pt x="2052731" y="1519362"/>
                    <a:pt x="2043255" y="1528838"/>
                  </a:cubicBezTo>
                  <a:cubicBezTo>
                    <a:pt x="2033779" y="1538314"/>
                    <a:pt x="2020927" y="1543637"/>
                    <a:pt x="2007526" y="1543637"/>
                  </a:cubicBezTo>
                  <a:lnTo>
                    <a:pt x="50528" y="1543637"/>
                  </a:lnTo>
                  <a:cubicBezTo>
                    <a:pt x="37127" y="1543637"/>
                    <a:pt x="24275" y="1538314"/>
                    <a:pt x="14799" y="1528838"/>
                  </a:cubicBezTo>
                  <a:cubicBezTo>
                    <a:pt x="5324" y="1519362"/>
                    <a:pt x="0" y="1506510"/>
                    <a:pt x="0" y="1493109"/>
                  </a:cubicBezTo>
                  <a:lnTo>
                    <a:pt x="0" y="50528"/>
                  </a:lnTo>
                  <a:cubicBezTo>
                    <a:pt x="0" y="37127"/>
                    <a:pt x="5324" y="24275"/>
                    <a:pt x="14799" y="14799"/>
                  </a:cubicBezTo>
                  <a:cubicBezTo>
                    <a:pt x="24275" y="5324"/>
                    <a:pt x="37127" y="0"/>
                    <a:pt x="50528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058054" cy="1553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38469" y="2739205"/>
            <a:ext cx="6823236" cy="4883150"/>
            <a:chOff x="0" y="0"/>
            <a:chExt cx="9097648" cy="651086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724732" y="-66675"/>
              <a:ext cx="8372916" cy="6577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Visual Expansion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Starts a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 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 video and expands within the frame to reveal product highlights, features, or festive offers,  without disrupting the viewing experience.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Seamless Interactivity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Lets viewers explore more, click through, or shop directly, blending storytelling with a low-friction path to conversion.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Design</a:t>
              </a: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ed for Deeper Discovery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Combines creativity and utility, perfect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for showcasing multi-SKU products, tech specs, or festive combos in a single immersive format.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31111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2460718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4808723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771721" y="214052"/>
            <a:ext cx="2268481" cy="1017981"/>
            <a:chOff x="0" y="0"/>
            <a:chExt cx="3024641" cy="13573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24641" cy="1357308"/>
            </a:xfrm>
            <a:custGeom>
              <a:avLst/>
              <a:gdLst/>
              <a:ahLst/>
              <a:cxnLst/>
              <a:rect r="r" b="b" t="t" l="l"/>
              <a:pathLst>
                <a:path h="1357308" w="3024641">
                  <a:moveTo>
                    <a:pt x="0" y="0"/>
                  </a:moveTo>
                  <a:lnTo>
                    <a:pt x="3024641" y="0"/>
                  </a:lnTo>
                  <a:lnTo>
                    <a:pt x="3024641" y="1357308"/>
                  </a:lnTo>
                  <a:lnTo>
                    <a:pt x="0" y="1357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108897" y="426771"/>
              <a:ext cx="806847" cy="503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B644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OLV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716000" y="1251083"/>
            <a:ext cx="4379924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CPMs </a:t>
            </a:r>
            <a:r>
              <a:rPr lang="en-US" b="true" sz="2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Starting From INR 165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43000" y="8482753"/>
            <a:ext cx="5638937" cy="785717"/>
            <a:chOff x="0" y="0"/>
            <a:chExt cx="1485152" cy="206938"/>
          </a:xfrm>
        </p:grpSpPr>
        <p:sp>
          <p:nvSpPr>
            <p:cNvPr name="Freeform 23" id="23">
              <a:hlinkClick r:id="rId8" tooltip="https://www.vdo.ai/creative-showcase/display-oppo-interactive-display-expandable"/>
            </p:cNvPr>
            <p:cNvSpPr/>
            <p:nvPr/>
          </p:nvSpPr>
          <p:spPr>
            <a:xfrm flipH="false" flipV="false" rot="0">
              <a:off x="0" y="0"/>
              <a:ext cx="1485152" cy="206938"/>
            </a:xfrm>
            <a:custGeom>
              <a:avLst/>
              <a:gdLst/>
              <a:ahLst/>
              <a:cxnLst/>
              <a:rect r="r" b="b" t="t" l="l"/>
              <a:pathLst>
                <a:path h="206938" w="1485152">
                  <a:moveTo>
                    <a:pt x="26086" y="0"/>
                  </a:moveTo>
                  <a:lnTo>
                    <a:pt x="1459066" y="0"/>
                  </a:lnTo>
                  <a:cubicBezTo>
                    <a:pt x="1473473" y="0"/>
                    <a:pt x="1485152" y="11679"/>
                    <a:pt x="1485152" y="26086"/>
                  </a:cubicBezTo>
                  <a:lnTo>
                    <a:pt x="1485152" y="180852"/>
                  </a:lnTo>
                  <a:cubicBezTo>
                    <a:pt x="1485152" y="195259"/>
                    <a:pt x="1473473" y="206938"/>
                    <a:pt x="1459066" y="206938"/>
                  </a:cubicBezTo>
                  <a:lnTo>
                    <a:pt x="26086" y="206938"/>
                  </a:lnTo>
                  <a:cubicBezTo>
                    <a:pt x="11679" y="206938"/>
                    <a:pt x="0" y="195259"/>
                    <a:pt x="0" y="180852"/>
                  </a:cubicBezTo>
                  <a:lnTo>
                    <a:pt x="0" y="26086"/>
                  </a:lnTo>
                  <a:cubicBezTo>
                    <a:pt x="0" y="11679"/>
                    <a:pt x="11679" y="0"/>
                    <a:pt x="26086" y="0"/>
                  </a:cubicBezTo>
                  <a:close/>
                </a:path>
              </a:pathLst>
            </a:custGeom>
            <a:solidFill>
              <a:srgbClr val="B6444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85152" cy="254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71237" y="8724990"/>
            <a:ext cx="4434779" cy="27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Click Here for a Reference Working Mockup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3000" y="9410184"/>
            <a:ext cx="8146751" cy="22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*The above link is only</a:t>
            </a: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representation purposes and should serve only as a reference. 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151703" y="8696292"/>
            <a:ext cx="372715" cy="372715"/>
          </a:xfrm>
          <a:custGeom>
            <a:avLst/>
            <a:gdLst/>
            <a:ahLst/>
            <a:cxnLst/>
            <a:rect r="r" b="b" t="t" l="l"/>
            <a:pathLst>
              <a:path h="372715" w="372715">
                <a:moveTo>
                  <a:pt x="0" y="0"/>
                </a:moveTo>
                <a:lnTo>
                  <a:pt x="372716" y="0"/>
                </a:lnTo>
                <a:lnTo>
                  <a:pt x="372716" y="372715"/>
                </a:lnTo>
                <a:lnTo>
                  <a:pt x="0" y="3727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45171"/>
            <a:chOff x="0" y="0"/>
            <a:chExt cx="4816593" cy="4596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59633"/>
            </a:xfrm>
            <a:custGeom>
              <a:avLst/>
              <a:gdLst/>
              <a:ahLst/>
              <a:cxnLst/>
              <a:rect r="r" b="b" t="t" l="l"/>
              <a:pathLst>
                <a:path h="4596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33"/>
                  </a:lnTo>
                  <a:lnTo>
                    <a:pt x="0" y="459633"/>
                  </a:lnTo>
                  <a:close/>
                </a:path>
              </a:pathLst>
            </a:custGeom>
            <a:solidFill>
              <a:srgbClr val="4356A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44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826242" y="5053747"/>
            <a:ext cx="5437006" cy="3670711"/>
          </a:xfrm>
          <a:custGeom>
            <a:avLst/>
            <a:gdLst/>
            <a:ahLst/>
            <a:cxnLst/>
            <a:rect r="r" b="b" t="t" l="l"/>
            <a:pathLst>
              <a:path h="3670711" w="5437006">
                <a:moveTo>
                  <a:pt x="0" y="0"/>
                </a:moveTo>
                <a:lnTo>
                  <a:pt x="5437006" y="0"/>
                </a:lnTo>
                <a:lnTo>
                  <a:pt x="5437006" y="3670712"/>
                </a:lnTo>
                <a:lnTo>
                  <a:pt x="0" y="3670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43000" y="2250281"/>
            <a:ext cx="7814174" cy="5860997"/>
            <a:chOff x="0" y="0"/>
            <a:chExt cx="2058054" cy="15436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8054" cy="1543637"/>
            </a:xfrm>
            <a:custGeom>
              <a:avLst/>
              <a:gdLst/>
              <a:ahLst/>
              <a:cxnLst/>
              <a:rect r="r" b="b" t="t" l="l"/>
              <a:pathLst>
                <a:path h="1543637" w="2058054">
                  <a:moveTo>
                    <a:pt x="50528" y="0"/>
                  </a:moveTo>
                  <a:lnTo>
                    <a:pt x="2007526" y="0"/>
                  </a:lnTo>
                  <a:cubicBezTo>
                    <a:pt x="2035432" y="0"/>
                    <a:pt x="2058054" y="22622"/>
                    <a:pt x="2058054" y="50528"/>
                  </a:cubicBezTo>
                  <a:lnTo>
                    <a:pt x="2058054" y="1493109"/>
                  </a:lnTo>
                  <a:cubicBezTo>
                    <a:pt x="2058054" y="1506510"/>
                    <a:pt x="2052731" y="1519362"/>
                    <a:pt x="2043255" y="1528838"/>
                  </a:cubicBezTo>
                  <a:cubicBezTo>
                    <a:pt x="2033779" y="1538314"/>
                    <a:pt x="2020927" y="1543637"/>
                    <a:pt x="2007526" y="1543637"/>
                  </a:cubicBezTo>
                  <a:lnTo>
                    <a:pt x="50528" y="1543637"/>
                  </a:lnTo>
                  <a:cubicBezTo>
                    <a:pt x="37127" y="1543637"/>
                    <a:pt x="24275" y="1538314"/>
                    <a:pt x="14799" y="1528838"/>
                  </a:cubicBezTo>
                  <a:cubicBezTo>
                    <a:pt x="5324" y="1519362"/>
                    <a:pt x="0" y="1506510"/>
                    <a:pt x="0" y="1493109"/>
                  </a:cubicBezTo>
                  <a:lnTo>
                    <a:pt x="0" y="50528"/>
                  </a:lnTo>
                  <a:cubicBezTo>
                    <a:pt x="0" y="37127"/>
                    <a:pt x="5324" y="24275"/>
                    <a:pt x="14799" y="14799"/>
                  </a:cubicBezTo>
                  <a:cubicBezTo>
                    <a:pt x="24275" y="5324"/>
                    <a:pt x="37127" y="0"/>
                    <a:pt x="50528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58054" cy="1553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38469" y="2984005"/>
            <a:ext cx="6823236" cy="4530725"/>
            <a:chOff x="0" y="0"/>
            <a:chExt cx="9097648" cy="60409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53487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6"/>
                  </a:lnTo>
                  <a:lnTo>
                    <a:pt x="0" y="52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2494277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6"/>
                  </a:lnTo>
                  <a:lnTo>
                    <a:pt x="0" y="52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4405965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724732" y="-66675"/>
              <a:ext cx="8372916" cy="6107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Dynamic Messaging at Scale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Cu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stomise cre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atives in real time based on user affinity, geo, weather, or behaviour, delivering the most relevant message, every time.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Interactive Elements Built In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Add clickable CTAs, product carousels, or overlays to turn passive views into active exploration.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Seamless R</a:t>
              </a: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edirection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Effortlessly guide users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to landing pages, product pages, or app installs, all within the video experience.</a:t>
              </a:r>
            </a:p>
            <a:p>
              <a:pPr algn="l">
                <a:lnSpc>
                  <a:spcPts val="28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147948" y="2250281"/>
            <a:ext cx="5400745" cy="3646230"/>
          </a:xfrm>
          <a:custGeom>
            <a:avLst/>
            <a:gdLst/>
            <a:ahLst/>
            <a:cxnLst/>
            <a:rect r="r" b="b" t="t" l="l"/>
            <a:pathLst>
              <a:path h="3646230" w="5400745">
                <a:moveTo>
                  <a:pt x="0" y="0"/>
                </a:moveTo>
                <a:lnTo>
                  <a:pt x="5400745" y="0"/>
                </a:lnTo>
                <a:lnTo>
                  <a:pt x="5400745" y="3646231"/>
                </a:lnTo>
                <a:lnTo>
                  <a:pt x="0" y="36462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382925"/>
            <a:ext cx="11860887" cy="979322"/>
            <a:chOff x="0" y="0"/>
            <a:chExt cx="15814516" cy="130576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71450"/>
              <a:ext cx="13645536" cy="975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DCO for OLV Ads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926033"/>
              <a:ext cx="15814516" cy="379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Hyper-Personalised, Micro-Targeting 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771721" y="214052"/>
            <a:ext cx="2268481" cy="1017981"/>
            <a:chOff x="0" y="0"/>
            <a:chExt cx="3024641" cy="13573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24641" cy="1357308"/>
            </a:xfrm>
            <a:custGeom>
              <a:avLst/>
              <a:gdLst/>
              <a:ahLst/>
              <a:cxnLst/>
              <a:rect r="r" b="b" t="t" l="l"/>
              <a:pathLst>
                <a:path h="1357308" w="3024641">
                  <a:moveTo>
                    <a:pt x="0" y="0"/>
                  </a:moveTo>
                  <a:lnTo>
                    <a:pt x="3024641" y="0"/>
                  </a:lnTo>
                  <a:lnTo>
                    <a:pt x="3024641" y="1357308"/>
                  </a:lnTo>
                  <a:lnTo>
                    <a:pt x="0" y="1357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108897" y="426771"/>
              <a:ext cx="806847" cy="503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B644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OLV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16000" y="1251083"/>
            <a:ext cx="4379924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CPMs </a:t>
            </a:r>
            <a:r>
              <a:rPr lang="en-US" b="true" sz="2000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Starting From INR 165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3000" y="8482753"/>
            <a:ext cx="5638937" cy="785717"/>
            <a:chOff x="0" y="0"/>
            <a:chExt cx="1485152" cy="206938"/>
          </a:xfrm>
        </p:grpSpPr>
        <p:sp>
          <p:nvSpPr>
            <p:cNvPr name="Freeform 24" id="24">
              <a:hlinkClick r:id="rId9" tooltip="https://www.vdo.ai/creative-showcase/olv-amul-api-triggered-live-weather-based"/>
            </p:cNvPr>
            <p:cNvSpPr/>
            <p:nvPr/>
          </p:nvSpPr>
          <p:spPr>
            <a:xfrm flipH="false" flipV="false" rot="0">
              <a:off x="0" y="0"/>
              <a:ext cx="1485152" cy="206938"/>
            </a:xfrm>
            <a:custGeom>
              <a:avLst/>
              <a:gdLst/>
              <a:ahLst/>
              <a:cxnLst/>
              <a:rect r="r" b="b" t="t" l="l"/>
              <a:pathLst>
                <a:path h="206938" w="1485152">
                  <a:moveTo>
                    <a:pt x="26086" y="0"/>
                  </a:moveTo>
                  <a:lnTo>
                    <a:pt x="1459066" y="0"/>
                  </a:lnTo>
                  <a:cubicBezTo>
                    <a:pt x="1473473" y="0"/>
                    <a:pt x="1485152" y="11679"/>
                    <a:pt x="1485152" y="26086"/>
                  </a:cubicBezTo>
                  <a:lnTo>
                    <a:pt x="1485152" y="180852"/>
                  </a:lnTo>
                  <a:cubicBezTo>
                    <a:pt x="1485152" y="195259"/>
                    <a:pt x="1473473" y="206938"/>
                    <a:pt x="1459066" y="206938"/>
                  </a:cubicBezTo>
                  <a:lnTo>
                    <a:pt x="26086" y="206938"/>
                  </a:lnTo>
                  <a:cubicBezTo>
                    <a:pt x="11679" y="206938"/>
                    <a:pt x="0" y="195259"/>
                    <a:pt x="0" y="180852"/>
                  </a:cubicBezTo>
                  <a:lnTo>
                    <a:pt x="0" y="26086"/>
                  </a:lnTo>
                  <a:cubicBezTo>
                    <a:pt x="0" y="11679"/>
                    <a:pt x="11679" y="0"/>
                    <a:pt x="26086" y="0"/>
                  </a:cubicBezTo>
                  <a:close/>
                </a:path>
              </a:pathLst>
            </a:custGeom>
            <a:solidFill>
              <a:srgbClr val="4356A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485152" cy="254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71237" y="8724990"/>
            <a:ext cx="4434779" cy="27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Click Here for a Reference Working Mockup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3000" y="9410184"/>
            <a:ext cx="8146751" cy="22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*The above link is only</a:t>
            </a: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representation purposes and should serve only as a reference. 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151703" y="8696292"/>
            <a:ext cx="372715" cy="372715"/>
          </a:xfrm>
          <a:custGeom>
            <a:avLst/>
            <a:gdLst/>
            <a:ahLst/>
            <a:cxnLst/>
            <a:rect r="r" b="b" t="t" l="l"/>
            <a:pathLst>
              <a:path h="372715" w="372715">
                <a:moveTo>
                  <a:pt x="0" y="0"/>
                </a:moveTo>
                <a:lnTo>
                  <a:pt x="372716" y="0"/>
                </a:lnTo>
                <a:lnTo>
                  <a:pt x="372716" y="372715"/>
                </a:lnTo>
                <a:lnTo>
                  <a:pt x="0" y="372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45171"/>
            <a:chOff x="0" y="0"/>
            <a:chExt cx="4816593" cy="4596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59633"/>
            </a:xfrm>
            <a:custGeom>
              <a:avLst/>
              <a:gdLst/>
              <a:ahLst/>
              <a:cxnLst/>
              <a:rect r="r" b="b" t="t" l="l"/>
              <a:pathLst>
                <a:path h="4596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33"/>
                  </a:lnTo>
                  <a:lnTo>
                    <a:pt x="0" y="459633"/>
                  </a:lnTo>
                  <a:close/>
                </a:path>
              </a:pathLst>
            </a:custGeom>
            <a:solidFill>
              <a:srgbClr val="B644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44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2798645"/>
            <a:ext cx="6764484" cy="4744084"/>
            <a:chOff x="0" y="0"/>
            <a:chExt cx="9019312" cy="6325445"/>
          </a:xfrm>
        </p:grpSpPr>
        <p:sp>
          <p:nvSpPr>
            <p:cNvPr name="Freeform 7" id="7">
              <a:hlinkClick r:id="rId4" tooltip="https://www.vdo.ai/sample/showcase/versuni-2507/advanced-olv-airfryer-sample.php"/>
            </p:cNvPr>
            <p:cNvSpPr/>
            <p:nvPr/>
          </p:nvSpPr>
          <p:spPr>
            <a:xfrm flipH="false" flipV="false" rot="0">
              <a:off x="0" y="0"/>
              <a:ext cx="9019312" cy="6325445"/>
            </a:xfrm>
            <a:custGeom>
              <a:avLst/>
              <a:gdLst/>
              <a:ahLst/>
              <a:cxnLst/>
              <a:rect r="r" b="b" t="t" l="l"/>
              <a:pathLst>
                <a:path h="6325445" w="9019312">
                  <a:moveTo>
                    <a:pt x="0" y="0"/>
                  </a:moveTo>
                  <a:lnTo>
                    <a:pt x="9019312" y="0"/>
                  </a:lnTo>
                  <a:lnTo>
                    <a:pt x="9019312" y="6325445"/>
                  </a:lnTo>
                  <a:lnTo>
                    <a:pt x="0" y="632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301" t="-17732" r="-32295" b="-17491"/>
              </a:stretch>
            </a:blipFill>
          </p:spPr>
        </p:sp>
        <p:sp>
          <p:nvSpPr>
            <p:cNvPr name="Freeform 8" id="8">
              <a:hlinkClick r:id="rId6" tooltip="https://www.vdo.ai/sample/showcase/versuni-2507/advanced-olv-airfryer-sample.php"/>
            </p:cNvPr>
            <p:cNvSpPr/>
            <p:nvPr/>
          </p:nvSpPr>
          <p:spPr>
            <a:xfrm flipH="false" flipV="false" rot="0">
              <a:off x="1574779" y="1515159"/>
              <a:ext cx="6224213" cy="3488381"/>
            </a:xfrm>
            <a:custGeom>
              <a:avLst/>
              <a:gdLst/>
              <a:ahLst/>
              <a:cxnLst/>
              <a:rect r="r" b="b" t="t" l="l"/>
              <a:pathLst>
                <a:path h="3488381" w="6224213">
                  <a:moveTo>
                    <a:pt x="0" y="0"/>
                  </a:moveTo>
                  <a:lnTo>
                    <a:pt x="6224213" y="0"/>
                  </a:lnTo>
                  <a:lnTo>
                    <a:pt x="6224213" y="3488381"/>
                  </a:lnTo>
                  <a:lnTo>
                    <a:pt x="0" y="3488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127094" y="6622318"/>
            <a:ext cx="2331380" cy="2635982"/>
          </a:xfrm>
          <a:custGeom>
            <a:avLst/>
            <a:gdLst/>
            <a:ahLst/>
            <a:cxnLst/>
            <a:rect r="r" b="b" t="t" l="l"/>
            <a:pathLst>
              <a:path h="2635982" w="2331380">
                <a:moveTo>
                  <a:pt x="0" y="0"/>
                </a:moveTo>
                <a:lnTo>
                  <a:pt x="2331380" y="0"/>
                </a:lnTo>
                <a:lnTo>
                  <a:pt x="2331380" y="2635982"/>
                </a:lnTo>
                <a:lnTo>
                  <a:pt x="0" y="26359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11354" y="5789278"/>
            <a:ext cx="979659" cy="678414"/>
          </a:xfrm>
          <a:custGeom>
            <a:avLst/>
            <a:gdLst/>
            <a:ahLst/>
            <a:cxnLst/>
            <a:rect r="r" b="b" t="t" l="l"/>
            <a:pathLst>
              <a:path h="678414" w="979659">
                <a:moveTo>
                  <a:pt x="0" y="0"/>
                </a:moveTo>
                <a:lnTo>
                  <a:pt x="979659" y="0"/>
                </a:lnTo>
                <a:lnTo>
                  <a:pt x="979659" y="678414"/>
                </a:lnTo>
                <a:lnTo>
                  <a:pt x="0" y="67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33475" y="2250281"/>
            <a:ext cx="7814174" cy="5860997"/>
            <a:chOff x="0" y="0"/>
            <a:chExt cx="2058054" cy="15436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8054" cy="1543637"/>
            </a:xfrm>
            <a:custGeom>
              <a:avLst/>
              <a:gdLst/>
              <a:ahLst/>
              <a:cxnLst/>
              <a:rect r="r" b="b" t="t" l="l"/>
              <a:pathLst>
                <a:path h="1543637" w="2058054">
                  <a:moveTo>
                    <a:pt x="50528" y="0"/>
                  </a:moveTo>
                  <a:lnTo>
                    <a:pt x="2007526" y="0"/>
                  </a:lnTo>
                  <a:cubicBezTo>
                    <a:pt x="2035432" y="0"/>
                    <a:pt x="2058054" y="22622"/>
                    <a:pt x="2058054" y="50528"/>
                  </a:cubicBezTo>
                  <a:lnTo>
                    <a:pt x="2058054" y="1493109"/>
                  </a:lnTo>
                  <a:cubicBezTo>
                    <a:pt x="2058054" y="1506510"/>
                    <a:pt x="2052731" y="1519362"/>
                    <a:pt x="2043255" y="1528838"/>
                  </a:cubicBezTo>
                  <a:cubicBezTo>
                    <a:pt x="2033779" y="1538314"/>
                    <a:pt x="2020927" y="1543637"/>
                    <a:pt x="2007526" y="1543637"/>
                  </a:cubicBezTo>
                  <a:lnTo>
                    <a:pt x="50528" y="1543637"/>
                  </a:lnTo>
                  <a:cubicBezTo>
                    <a:pt x="37127" y="1543637"/>
                    <a:pt x="24275" y="1538314"/>
                    <a:pt x="14799" y="1528838"/>
                  </a:cubicBezTo>
                  <a:cubicBezTo>
                    <a:pt x="5324" y="1519362"/>
                    <a:pt x="0" y="1506510"/>
                    <a:pt x="0" y="1493109"/>
                  </a:cubicBezTo>
                  <a:lnTo>
                    <a:pt x="0" y="50528"/>
                  </a:lnTo>
                  <a:cubicBezTo>
                    <a:pt x="0" y="37127"/>
                    <a:pt x="5324" y="24275"/>
                    <a:pt x="14799" y="14799"/>
                  </a:cubicBezTo>
                  <a:cubicBezTo>
                    <a:pt x="24275" y="5324"/>
                    <a:pt x="37127" y="0"/>
                    <a:pt x="50528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058054" cy="1553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20160" y="2798645"/>
            <a:ext cx="7192431" cy="4883150"/>
            <a:chOff x="0" y="0"/>
            <a:chExt cx="9589908" cy="651086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724732" y="-66675"/>
              <a:ext cx="8865176" cy="6577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Scroll-Activated Visuals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As users scro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l, one half of the banner stays fixed while the other transforms,  revealing features, offers, or festive moments in sync with user movement.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Layered Brand Messaging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Deliver a narrative in stages, from problem to solution, tease to reveal, or feature to CTA </a:t>
              </a:r>
            </a:p>
            <a:p>
              <a:pPr algn="l">
                <a:lnSpc>
                  <a:spcPts val="2800"/>
                </a:lnSpc>
              </a:pPr>
            </a:p>
            <a:p>
              <a:pPr algn="l">
                <a:lnSpc>
                  <a:spcPts val="2800"/>
                </a:lnSpc>
              </a:pP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Built</a:t>
              </a:r>
              <a:r>
                <a:rPr lang="en-US" b="true" sz="2000" spc="-11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for Attention in Motion</a:t>
              </a:r>
            </a:p>
            <a:p>
              <a:pPr algn="l">
                <a:lnSpc>
                  <a:spcPts val="2800"/>
                </a:lnSpc>
              </a:pP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Designed to surprise and engage mid-scroll, turning</a:t>
              </a:r>
              <a:r>
                <a:rPr lang="en-US" sz="2000" spc="-1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casual browsing into branded discovery without interrupting the user experience.</a:t>
              </a:r>
            </a:p>
            <a:p>
              <a:pPr algn="l">
                <a:lnSpc>
                  <a:spcPts val="2800"/>
                </a:lnSpc>
              </a:pP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31111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448018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4332977"/>
              <a:ext cx="484952" cy="526207"/>
            </a:xfrm>
            <a:custGeom>
              <a:avLst/>
              <a:gdLst/>
              <a:ahLst/>
              <a:cxnLst/>
              <a:rect r="r" b="b" t="t" l="l"/>
              <a:pathLst>
                <a:path h="526207" w="484952">
                  <a:moveTo>
                    <a:pt x="0" y="0"/>
                  </a:moveTo>
                  <a:lnTo>
                    <a:pt x="484952" y="0"/>
                  </a:lnTo>
                  <a:lnTo>
                    <a:pt x="484952" y="526207"/>
                  </a:lnTo>
                  <a:lnTo>
                    <a:pt x="0" y="526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700" y="382925"/>
            <a:ext cx="11860887" cy="979322"/>
            <a:chOff x="0" y="0"/>
            <a:chExt cx="15814516" cy="1305762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171450"/>
              <a:ext cx="13645536" cy="975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In-Scroll Display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926033"/>
              <a:ext cx="15814516" cy="379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Dynamic Content, Surprise Discovery, Mutiple Messaging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16000" y="214052"/>
            <a:ext cx="4379924" cy="1317066"/>
            <a:chOff x="0" y="0"/>
            <a:chExt cx="5839898" cy="17560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407629" y="0"/>
              <a:ext cx="3024641" cy="1357308"/>
            </a:xfrm>
            <a:custGeom>
              <a:avLst/>
              <a:gdLst/>
              <a:ahLst/>
              <a:cxnLst/>
              <a:rect r="r" b="b" t="t" l="l"/>
              <a:pathLst>
                <a:path h="1357308" w="3024641">
                  <a:moveTo>
                    <a:pt x="0" y="0"/>
                  </a:moveTo>
                  <a:lnTo>
                    <a:pt x="3024641" y="0"/>
                  </a:lnTo>
                  <a:lnTo>
                    <a:pt x="3024641" y="1357308"/>
                  </a:lnTo>
                  <a:lnTo>
                    <a:pt x="0" y="1357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2170901" y="426771"/>
              <a:ext cx="1498097" cy="503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B644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Display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376358"/>
              <a:ext cx="5839898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2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CPMs </a:t>
              </a:r>
              <a:r>
                <a:rPr lang="en-US" b="true" sz="2000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Starting From INR 140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43000" y="8482753"/>
            <a:ext cx="5638937" cy="785717"/>
            <a:chOff x="0" y="0"/>
            <a:chExt cx="1485152" cy="206938"/>
          </a:xfrm>
        </p:grpSpPr>
        <p:sp>
          <p:nvSpPr>
            <p:cNvPr name="Freeform 27" id="27">
              <a:hlinkClick r:id="rId14" tooltip="https://www.vdo.ai/sample/showcase/versuni-2507/advanced-olv-airfryer-sample.php"/>
            </p:cNvPr>
            <p:cNvSpPr/>
            <p:nvPr/>
          </p:nvSpPr>
          <p:spPr>
            <a:xfrm flipH="false" flipV="false" rot="0">
              <a:off x="0" y="0"/>
              <a:ext cx="1485152" cy="206938"/>
            </a:xfrm>
            <a:custGeom>
              <a:avLst/>
              <a:gdLst/>
              <a:ahLst/>
              <a:cxnLst/>
              <a:rect r="r" b="b" t="t" l="l"/>
              <a:pathLst>
                <a:path h="206938" w="1485152">
                  <a:moveTo>
                    <a:pt x="26086" y="0"/>
                  </a:moveTo>
                  <a:lnTo>
                    <a:pt x="1459066" y="0"/>
                  </a:lnTo>
                  <a:cubicBezTo>
                    <a:pt x="1473473" y="0"/>
                    <a:pt x="1485152" y="11679"/>
                    <a:pt x="1485152" y="26086"/>
                  </a:cubicBezTo>
                  <a:lnTo>
                    <a:pt x="1485152" y="180852"/>
                  </a:lnTo>
                  <a:cubicBezTo>
                    <a:pt x="1485152" y="195259"/>
                    <a:pt x="1473473" y="206938"/>
                    <a:pt x="1459066" y="206938"/>
                  </a:cubicBezTo>
                  <a:lnTo>
                    <a:pt x="26086" y="206938"/>
                  </a:lnTo>
                  <a:cubicBezTo>
                    <a:pt x="11679" y="206938"/>
                    <a:pt x="0" y="195259"/>
                    <a:pt x="0" y="180852"/>
                  </a:cubicBezTo>
                  <a:lnTo>
                    <a:pt x="0" y="26086"/>
                  </a:lnTo>
                  <a:cubicBezTo>
                    <a:pt x="0" y="11679"/>
                    <a:pt x="11679" y="0"/>
                    <a:pt x="26086" y="0"/>
                  </a:cubicBezTo>
                  <a:close/>
                </a:path>
              </a:pathLst>
            </a:custGeom>
            <a:solidFill>
              <a:srgbClr val="B6444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485152" cy="254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571237" y="8724990"/>
            <a:ext cx="4434779" cy="27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Click Here for a Working Mockup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3000" y="9410184"/>
            <a:ext cx="8146751" cy="22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*The above link is only</a:t>
            </a: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representation purposes and should serve only as a reference. 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6142178" y="8696292"/>
            <a:ext cx="372715" cy="372715"/>
          </a:xfrm>
          <a:custGeom>
            <a:avLst/>
            <a:gdLst/>
            <a:ahLst/>
            <a:cxnLst/>
            <a:rect r="r" b="b" t="t" l="l"/>
            <a:pathLst>
              <a:path h="372715" w="372715">
                <a:moveTo>
                  <a:pt x="0" y="0"/>
                </a:moveTo>
                <a:lnTo>
                  <a:pt x="372716" y="0"/>
                </a:lnTo>
                <a:lnTo>
                  <a:pt x="372716" y="372715"/>
                </a:lnTo>
                <a:lnTo>
                  <a:pt x="0" y="37271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745171"/>
            <a:chOff x="0" y="0"/>
            <a:chExt cx="4816593" cy="4596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59633"/>
            </a:xfrm>
            <a:custGeom>
              <a:avLst/>
              <a:gdLst/>
              <a:ahLst/>
              <a:cxnLst/>
              <a:rect r="r" b="b" t="t" l="l"/>
              <a:pathLst>
                <a:path h="4596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9633"/>
                  </a:lnTo>
                  <a:lnTo>
                    <a:pt x="0" y="459633"/>
                  </a:lnTo>
                  <a:close/>
                </a:path>
              </a:pathLst>
            </a:custGeom>
            <a:solidFill>
              <a:srgbClr val="4356A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816593" cy="44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2250281"/>
            <a:ext cx="7814174" cy="5860997"/>
            <a:chOff x="0" y="0"/>
            <a:chExt cx="2058054" cy="15436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8054" cy="1543637"/>
            </a:xfrm>
            <a:custGeom>
              <a:avLst/>
              <a:gdLst/>
              <a:ahLst/>
              <a:cxnLst/>
              <a:rect r="r" b="b" t="t" l="l"/>
              <a:pathLst>
                <a:path h="1543637" w="2058054">
                  <a:moveTo>
                    <a:pt x="50528" y="0"/>
                  </a:moveTo>
                  <a:lnTo>
                    <a:pt x="2007526" y="0"/>
                  </a:lnTo>
                  <a:cubicBezTo>
                    <a:pt x="2035432" y="0"/>
                    <a:pt x="2058054" y="22622"/>
                    <a:pt x="2058054" y="50528"/>
                  </a:cubicBezTo>
                  <a:lnTo>
                    <a:pt x="2058054" y="1493109"/>
                  </a:lnTo>
                  <a:cubicBezTo>
                    <a:pt x="2058054" y="1506510"/>
                    <a:pt x="2052731" y="1519362"/>
                    <a:pt x="2043255" y="1528838"/>
                  </a:cubicBezTo>
                  <a:cubicBezTo>
                    <a:pt x="2033779" y="1538314"/>
                    <a:pt x="2020927" y="1543637"/>
                    <a:pt x="2007526" y="1543637"/>
                  </a:cubicBezTo>
                  <a:lnTo>
                    <a:pt x="50528" y="1543637"/>
                  </a:lnTo>
                  <a:cubicBezTo>
                    <a:pt x="37127" y="1543637"/>
                    <a:pt x="24275" y="1538314"/>
                    <a:pt x="14799" y="1528838"/>
                  </a:cubicBezTo>
                  <a:cubicBezTo>
                    <a:pt x="5324" y="1519362"/>
                    <a:pt x="0" y="1506510"/>
                    <a:pt x="0" y="1493109"/>
                  </a:cubicBezTo>
                  <a:lnTo>
                    <a:pt x="0" y="50528"/>
                  </a:lnTo>
                  <a:cubicBezTo>
                    <a:pt x="0" y="37127"/>
                    <a:pt x="5324" y="24275"/>
                    <a:pt x="14799" y="14799"/>
                  </a:cubicBezTo>
                  <a:cubicBezTo>
                    <a:pt x="24275" y="5324"/>
                    <a:pt x="37127" y="0"/>
                    <a:pt x="50528" y="0"/>
                  </a:cubicBez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58054" cy="1553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13297" y="3054350"/>
            <a:ext cx="363714" cy="394655"/>
          </a:xfrm>
          <a:custGeom>
            <a:avLst/>
            <a:gdLst/>
            <a:ahLst/>
            <a:cxnLst/>
            <a:rect r="r" b="b" t="t" l="l"/>
            <a:pathLst>
              <a:path h="394655" w="363714">
                <a:moveTo>
                  <a:pt x="0" y="0"/>
                </a:moveTo>
                <a:lnTo>
                  <a:pt x="363714" y="0"/>
                </a:lnTo>
                <a:lnTo>
                  <a:pt x="363714" y="394655"/>
                </a:lnTo>
                <a:lnTo>
                  <a:pt x="0" y="3946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13297" y="4591833"/>
            <a:ext cx="363714" cy="394655"/>
          </a:xfrm>
          <a:custGeom>
            <a:avLst/>
            <a:gdLst/>
            <a:ahLst/>
            <a:cxnLst/>
            <a:rect r="r" b="b" t="t" l="l"/>
            <a:pathLst>
              <a:path h="394655" w="363714">
                <a:moveTo>
                  <a:pt x="0" y="0"/>
                </a:moveTo>
                <a:lnTo>
                  <a:pt x="363714" y="0"/>
                </a:lnTo>
                <a:lnTo>
                  <a:pt x="363714" y="394655"/>
                </a:lnTo>
                <a:lnTo>
                  <a:pt x="0" y="3946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3297" y="5928900"/>
            <a:ext cx="363714" cy="394655"/>
          </a:xfrm>
          <a:custGeom>
            <a:avLst/>
            <a:gdLst/>
            <a:ahLst/>
            <a:cxnLst/>
            <a:rect r="r" b="b" t="t" l="l"/>
            <a:pathLst>
              <a:path h="394655" w="363714">
                <a:moveTo>
                  <a:pt x="0" y="0"/>
                </a:moveTo>
                <a:lnTo>
                  <a:pt x="363714" y="0"/>
                </a:lnTo>
                <a:lnTo>
                  <a:pt x="363714" y="394655"/>
                </a:lnTo>
                <a:lnTo>
                  <a:pt x="0" y="3946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07190" y="2987675"/>
            <a:ext cx="6279687" cy="424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Multi-Faced Messaging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Rotate between d</a:t>
            </a: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ifferen</a:t>
            </a: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visuals, offers, or product shots; each face of the cube tells a new part of the story.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Quick </a:t>
            </a: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&amp; Mobile-Friendly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Designed for smooth performance across devices without compromising visual appeal or engagement.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Festive-R</a:t>
            </a:r>
            <a:r>
              <a:rPr lang="en-US" b="true" sz="2000" spc="-1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eady Storytelling</a:t>
            </a:r>
          </a:p>
          <a:p>
            <a:pPr algn="l">
              <a:lnSpc>
                <a:spcPts val="2800"/>
              </a:lnSpc>
            </a:pP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Perfec</a:t>
            </a:r>
            <a:r>
              <a:rPr lang="en-US" sz="2000" spc="-1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for highlighting combos, gifting ranges, or multi-SKU showcases.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35718" y="4892398"/>
            <a:ext cx="4908916" cy="4070808"/>
          </a:xfrm>
          <a:custGeom>
            <a:avLst/>
            <a:gdLst/>
            <a:ahLst/>
            <a:cxnLst/>
            <a:rect r="r" b="b" t="t" l="l"/>
            <a:pathLst>
              <a:path h="4070808" w="4908916">
                <a:moveTo>
                  <a:pt x="0" y="0"/>
                </a:moveTo>
                <a:lnTo>
                  <a:pt x="4908916" y="0"/>
                </a:lnTo>
                <a:lnTo>
                  <a:pt x="4908916" y="4070808"/>
                </a:lnTo>
                <a:lnTo>
                  <a:pt x="0" y="40708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57174" y="1745171"/>
            <a:ext cx="5009651" cy="4484294"/>
          </a:xfrm>
          <a:custGeom>
            <a:avLst/>
            <a:gdLst/>
            <a:ahLst/>
            <a:cxnLst/>
            <a:rect r="r" b="b" t="t" l="l"/>
            <a:pathLst>
              <a:path h="4484294" w="5009651">
                <a:moveTo>
                  <a:pt x="0" y="0"/>
                </a:moveTo>
                <a:lnTo>
                  <a:pt x="5009651" y="0"/>
                </a:lnTo>
                <a:lnTo>
                  <a:pt x="5009651" y="4484294"/>
                </a:lnTo>
                <a:lnTo>
                  <a:pt x="0" y="44842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382925"/>
            <a:ext cx="11860887" cy="979322"/>
            <a:chOff x="0" y="0"/>
            <a:chExt cx="15814516" cy="130576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71450"/>
              <a:ext cx="13645536" cy="9757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3D Cube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26033"/>
              <a:ext cx="15814516" cy="379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19"/>
                </a:lnSpc>
              </a:pPr>
              <a:r>
                <a:rPr lang="en-US" b="true" sz="19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Highlighting Multiple SKUs, Features, or Offers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0" y="214052"/>
            <a:ext cx="4379924" cy="1317066"/>
            <a:chOff x="0" y="0"/>
            <a:chExt cx="5839898" cy="17560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407629" y="0"/>
              <a:ext cx="3024641" cy="1357308"/>
            </a:xfrm>
            <a:custGeom>
              <a:avLst/>
              <a:gdLst/>
              <a:ahLst/>
              <a:cxnLst/>
              <a:rect r="r" b="b" t="t" l="l"/>
              <a:pathLst>
                <a:path h="1357308" w="3024641">
                  <a:moveTo>
                    <a:pt x="0" y="0"/>
                  </a:moveTo>
                  <a:lnTo>
                    <a:pt x="3024641" y="0"/>
                  </a:lnTo>
                  <a:lnTo>
                    <a:pt x="3024641" y="1357308"/>
                  </a:lnTo>
                  <a:lnTo>
                    <a:pt x="0" y="1357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170901" y="426771"/>
              <a:ext cx="1498097" cy="503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B6444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Display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376358"/>
              <a:ext cx="5839898" cy="37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2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CPMs </a:t>
              </a:r>
              <a:r>
                <a:rPr lang="en-US" b="true" sz="2000" strike="noStrike" u="non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Starting From INR 140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3000" y="8482753"/>
            <a:ext cx="5638937" cy="785717"/>
            <a:chOff x="0" y="0"/>
            <a:chExt cx="1485152" cy="206938"/>
          </a:xfrm>
        </p:grpSpPr>
        <p:sp>
          <p:nvSpPr>
            <p:cNvPr name="Freeform 23" id="23">
              <a:hlinkClick r:id="rId9" tooltip="https://www.vdo.ai/creative-showcase/display-panasonic-api-triggered-live-aqi-based"/>
            </p:cNvPr>
            <p:cNvSpPr/>
            <p:nvPr/>
          </p:nvSpPr>
          <p:spPr>
            <a:xfrm flipH="false" flipV="false" rot="0">
              <a:off x="0" y="0"/>
              <a:ext cx="1485152" cy="206938"/>
            </a:xfrm>
            <a:custGeom>
              <a:avLst/>
              <a:gdLst/>
              <a:ahLst/>
              <a:cxnLst/>
              <a:rect r="r" b="b" t="t" l="l"/>
              <a:pathLst>
                <a:path h="206938" w="1485152">
                  <a:moveTo>
                    <a:pt x="26086" y="0"/>
                  </a:moveTo>
                  <a:lnTo>
                    <a:pt x="1459066" y="0"/>
                  </a:lnTo>
                  <a:cubicBezTo>
                    <a:pt x="1473473" y="0"/>
                    <a:pt x="1485152" y="11679"/>
                    <a:pt x="1485152" y="26086"/>
                  </a:cubicBezTo>
                  <a:lnTo>
                    <a:pt x="1485152" y="180852"/>
                  </a:lnTo>
                  <a:cubicBezTo>
                    <a:pt x="1485152" y="195259"/>
                    <a:pt x="1473473" y="206938"/>
                    <a:pt x="1459066" y="206938"/>
                  </a:cubicBezTo>
                  <a:lnTo>
                    <a:pt x="26086" y="206938"/>
                  </a:lnTo>
                  <a:cubicBezTo>
                    <a:pt x="11679" y="206938"/>
                    <a:pt x="0" y="195259"/>
                    <a:pt x="0" y="180852"/>
                  </a:cubicBezTo>
                  <a:lnTo>
                    <a:pt x="0" y="26086"/>
                  </a:lnTo>
                  <a:cubicBezTo>
                    <a:pt x="0" y="11679"/>
                    <a:pt x="11679" y="0"/>
                    <a:pt x="26086" y="0"/>
                  </a:cubicBezTo>
                  <a:close/>
                </a:path>
              </a:pathLst>
            </a:custGeom>
            <a:solidFill>
              <a:srgbClr val="4356A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485152" cy="254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571237" y="8724990"/>
            <a:ext cx="4434779" cy="27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64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Click Here for a Reference Working Mockup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3000" y="9410184"/>
            <a:ext cx="8146751" cy="22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</a:pP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*The above link is only</a:t>
            </a:r>
            <a:r>
              <a:rPr lang="en-US" sz="132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for representation purposes and should serve only as a reference. 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142178" y="8696292"/>
            <a:ext cx="372715" cy="372715"/>
          </a:xfrm>
          <a:custGeom>
            <a:avLst/>
            <a:gdLst/>
            <a:ahLst/>
            <a:cxnLst/>
            <a:rect r="r" b="b" t="t" l="l"/>
            <a:pathLst>
              <a:path h="372715" w="372715">
                <a:moveTo>
                  <a:pt x="0" y="0"/>
                </a:moveTo>
                <a:lnTo>
                  <a:pt x="372716" y="0"/>
                </a:lnTo>
                <a:lnTo>
                  <a:pt x="372716" y="372715"/>
                </a:lnTo>
                <a:lnTo>
                  <a:pt x="0" y="372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41295" y="-7933072"/>
            <a:ext cx="20061111" cy="19213499"/>
            <a:chOff x="0" y="0"/>
            <a:chExt cx="26748148" cy="25617999"/>
          </a:xfrm>
        </p:grpSpPr>
        <p:sp>
          <p:nvSpPr>
            <p:cNvPr name="Freeform 3" id="3"/>
            <p:cNvSpPr/>
            <p:nvPr/>
          </p:nvSpPr>
          <p:spPr>
            <a:xfrm flipH="false" flipV="false" rot="-2475795">
              <a:off x="4503441" y="4000952"/>
              <a:ext cx="18765480" cy="17616094"/>
            </a:xfrm>
            <a:custGeom>
              <a:avLst/>
              <a:gdLst/>
              <a:ahLst/>
              <a:cxnLst/>
              <a:rect r="r" b="b" t="t" l="l"/>
              <a:pathLst>
                <a:path h="17616094" w="18765480">
                  <a:moveTo>
                    <a:pt x="0" y="0"/>
                  </a:moveTo>
                  <a:lnTo>
                    <a:pt x="18765480" y="0"/>
                  </a:lnTo>
                  <a:lnTo>
                    <a:pt x="18765480" y="17616094"/>
                  </a:lnTo>
                  <a:lnTo>
                    <a:pt x="0" y="17616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10011274"/>
              <a:ext cx="3969794" cy="3875511"/>
            </a:xfrm>
            <a:custGeom>
              <a:avLst/>
              <a:gdLst/>
              <a:ahLst/>
              <a:cxnLst/>
              <a:rect r="r" b="b" t="t" l="l"/>
              <a:pathLst>
                <a:path h="3875511" w="3969794">
                  <a:moveTo>
                    <a:pt x="0" y="0"/>
                  </a:moveTo>
                  <a:lnTo>
                    <a:pt x="3969794" y="0"/>
                  </a:lnTo>
                  <a:lnTo>
                    <a:pt x="3969794" y="3875511"/>
                  </a:lnTo>
                  <a:lnTo>
                    <a:pt x="0" y="38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97461" y="7111225"/>
            <a:ext cx="5167622" cy="2471865"/>
            <a:chOff x="0" y="0"/>
            <a:chExt cx="6890163" cy="3295820"/>
          </a:xfrm>
        </p:grpSpPr>
        <p:sp>
          <p:nvSpPr>
            <p:cNvPr name="Freeform 6" id="6"/>
            <p:cNvSpPr/>
            <p:nvPr/>
          </p:nvSpPr>
          <p:spPr>
            <a:xfrm flipH="false" flipV="false" rot="-5400000">
              <a:off x="1797172" y="-1797172"/>
              <a:ext cx="3295820" cy="6890163"/>
            </a:xfrm>
            <a:custGeom>
              <a:avLst/>
              <a:gdLst/>
              <a:ahLst/>
              <a:cxnLst/>
              <a:rect r="r" b="b" t="t" l="l"/>
              <a:pathLst>
                <a:path h="6890163" w="3295820">
                  <a:moveTo>
                    <a:pt x="0" y="0"/>
                  </a:moveTo>
                  <a:lnTo>
                    <a:pt x="3295819" y="0"/>
                  </a:lnTo>
                  <a:lnTo>
                    <a:pt x="3295819" y="6890163"/>
                  </a:lnTo>
                  <a:lnTo>
                    <a:pt x="0" y="6890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634" t="-3330" r="-119160" b="-627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056892" y="468673"/>
              <a:ext cx="4776380" cy="2358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1"/>
                </a:lnSpc>
              </a:pPr>
              <a:r>
                <a:rPr lang="en-US" sz="15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Retargeting for more than just awareness</a:t>
              </a:r>
              <a:r>
                <a:rPr lang="en-US" sz="15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</a:p>
            <a:p>
              <a:pPr algn="ctr">
                <a:lnSpc>
                  <a:spcPts val="1791"/>
                </a:lnSpc>
              </a:pPr>
            </a:p>
            <a:p>
              <a:pPr algn="ctr">
                <a:lnSpc>
                  <a:spcPts val="1791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Standard Display ad formats to drive maximum brand consideration and follow through with more customized messaging to drive conversions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45689" y="5836380"/>
            <a:ext cx="5167622" cy="2471865"/>
            <a:chOff x="0" y="0"/>
            <a:chExt cx="6890163" cy="3295820"/>
          </a:xfrm>
        </p:grpSpPr>
        <p:sp>
          <p:nvSpPr>
            <p:cNvPr name="Freeform 9" id="9"/>
            <p:cNvSpPr/>
            <p:nvPr/>
          </p:nvSpPr>
          <p:spPr>
            <a:xfrm flipH="false" flipV="false" rot="-5400000">
              <a:off x="1797172" y="-1797172"/>
              <a:ext cx="3295820" cy="6890163"/>
            </a:xfrm>
            <a:custGeom>
              <a:avLst/>
              <a:gdLst/>
              <a:ahLst/>
              <a:cxnLst/>
              <a:rect r="r" b="b" t="t" l="l"/>
              <a:pathLst>
                <a:path h="6890163" w="3295820">
                  <a:moveTo>
                    <a:pt x="0" y="0"/>
                  </a:moveTo>
                  <a:lnTo>
                    <a:pt x="3295819" y="0"/>
                  </a:lnTo>
                  <a:lnTo>
                    <a:pt x="3295819" y="6890163"/>
                  </a:lnTo>
                  <a:lnTo>
                    <a:pt x="0" y="6890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634" t="-3330" r="-119160" b="-627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087998" y="468673"/>
              <a:ext cx="4714166" cy="2358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1"/>
                </a:lnSpc>
              </a:pPr>
              <a:r>
                <a:rPr lang="en-US" sz="15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Trusted delivery</a:t>
              </a:r>
            </a:p>
            <a:p>
              <a:pPr algn="ctr">
                <a:lnSpc>
                  <a:spcPts val="1791"/>
                </a:lnSpc>
              </a:pPr>
              <a:r>
                <a:rPr lang="en-US" sz="15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mediums</a:t>
              </a:r>
            </a:p>
            <a:p>
              <a:pPr algn="ctr">
                <a:lnSpc>
                  <a:spcPts val="1791"/>
                </a:lnSpc>
              </a:pPr>
            </a:p>
            <a:p>
              <a:pPr algn="ctr">
                <a:lnSpc>
                  <a:spcPts val="1791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100% brand safety layering with strategic ad placements on major CTV apps can help build an efficient and result-oriented campaign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7378" y="4500562"/>
            <a:ext cx="5167622" cy="2471865"/>
            <a:chOff x="0" y="0"/>
            <a:chExt cx="6890163" cy="3295820"/>
          </a:xfrm>
        </p:grpSpPr>
        <p:sp>
          <p:nvSpPr>
            <p:cNvPr name="Freeform 12" id="12"/>
            <p:cNvSpPr/>
            <p:nvPr/>
          </p:nvSpPr>
          <p:spPr>
            <a:xfrm flipH="false" flipV="false" rot="-5400000">
              <a:off x="1797172" y="-1797172"/>
              <a:ext cx="3295820" cy="6890163"/>
            </a:xfrm>
            <a:custGeom>
              <a:avLst/>
              <a:gdLst/>
              <a:ahLst/>
              <a:cxnLst/>
              <a:rect r="r" b="b" t="t" l="l"/>
              <a:pathLst>
                <a:path h="6890163" w="3295820">
                  <a:moveTo>
                    <a:pt x="0" y="0"/>
                  </a:moveTo>
                  <a:lnTo>
                    <a:pt x="3295819" y="0"/>
                  </a:lnTo>
                  <a:lnTo>
                    <a:pt x="3295819" y="6890163"/>
                  </a:lnTo>
                  <a:lnTo>
                    <a:pt x="0" y="6890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634" t="-3330" r="-119160" b="-627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966983" y="468673"/>
              <a:ext cx="4956197" cy="2358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1"/>
                </a:lnSpc>
              </a:pPr>
              <a:r>
                <a:rPr lang="en-US" sz="15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Identify &amp; impress</a:t>
              </a:r>
            </a:p>
            <a:p>
              <a:pPr algn="ctr">
                <a:lnSpc>
                  <a:spcPts val="1791"/>
                </a:lnSpc>
              </a:pPr>
            </a:p>
            <a:p>
              <a:pPr algn="ctr">
                <a:lnSpc>
                  <a:spcPts val="1791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Options like behavioral, contextual, in-market and 3rd party audience segments from major DMPs can assist in reaching out to the core TG.  Additionally our custom creative units can deliver the wow factor!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74228" y="9583090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726967" y="9744941"/>
            <a:ext cx="1072561" cy="213204"/>
          </a:xfrm>
          <a:custGeom>
            <a:avLst/>
            <a:gdLst/>
            <a:ahLst/>
            <a:cxnLst/>
            <a:rect r="r" b="b" t="t" l="l"/>
            <a:pathLst>
              <a:path h="213204" w="1072561">
                <a:moveTo>
                  <a:pt x="0" y="0"/>
                </a:moveTo>
                <a:lnTo>
                  <a:pt x="1072562" y="0"/>
                </a:lnTo>
                <a:lnTo>
                  <a:pt x="1072562" y="213204"/>
                </a:lnTo>
                <a:lnTo>
                  <a:pt x="0" y="2132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519228" y="275804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3881729" y="4193766"/>
            <a:ext cx="6088877" cy="6609364"/>
          </a:xfrm>
          <a:custGeom>
            <a:avLst/>
            <a:gdLst/>
            <a:ahLst/>
            <a:cxnLst/>
            <a:rect r="r" b="b" t="t" l="l"/>
            <a:pathLst>
              <a:path h="6609364" w="6088877">
                <a:moveTo>
                  <a:pt x="6088877" y="0"/>
                </a:moveTo>
                <a:lnTo>
                  <a:pt x="0" y="0"/>
                </a:lnTo>
                <a:lnTo>
                  <a:pt x="0" y="6609364"/>
                </a:lnTo>
                <a:lnTo>
                  <a:pt x="6088877" y="6609364"/>
                </a:lnTo>
                <a:lnTo>
                  <a:pt x="6088877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365083" y="4193766"/>
            <a:ext cx="2361884" cy="4586182"/>
          </a:xfrm>
          <a:custGeom>
            <a:avLst/>
            <a:gdLst/>
            <a:ahLst/>
            <a:cxnLst/>
            <a:rect r="r" b="b" t="t" l="l"/>
            <a:pathLst>
              <a:path h="4586182" w="2361884">
                <a:moveTo>
                  <a:pt x="0" y="0"/>
                </a:moveTo>
                <a:lnTo>
                  <a:pt x="2361884" y="0"/>
                </a:lnTo>
                <a:lnTo>
                  <a:pt x="2361884" y="4586182"/>
                </a:lnTo>
                <a:lnTo>
                  <a:pt x="0" y="45861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00500" y="1146506"/>
            <a:ext cx="11430000" cy="1545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39"/>
              </a:lnSpc>
            </a:pPr>
            <a:r>
              <a:rPr lang="en-US" b="true" sz="10035" spc="-592">
                <a:solidFill>
                  <a:srgbClr val="FBB040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 Strategy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64275" y="9756723"/>
            <a:ext cx="1185491" cy="235652"/>
          </a:xfrm>
          <a:custGeom>
            <a:avLst/>
            <a:gdLst/>
            <a:ahLst/>
            <a:cxnLst/>
            <a:rect r="r" b="b" t="t" l="l"/>
            <a:pathLst>
              <a:path h="235652" w="1185491">
                <a:moveTo>
                  <a:pt x="0" y="0"/>
                </a:moveTo>
                <a:lnTo>
                  <a:pt x="1185491" y="0"/>
                </a:lnTo>
                <a:lnTo>
                  <a:pt x="1185491" y="235652"/>
                </a:lnTo>
                <a:lnTo>
                  <a:pt x="0" y="235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0"/>
            <a:ext cx="2264308" cy="10287000"/>
            <a:chOff x="0" y="0"/>
            <a:chExt cx="596361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6361" cy="2709333"/>
            </a:xfrm>
            <a:custGeom>
              <a:avLst/>
              <a:gdLst/>
              <a:ahLst/>
              <a:cxnLst/>
              <a:rect r="r" b="b" t="t" l="l"/>
              <a:pathLst>
                <a:path h="2709333" w="596361">
                  <a:moveTo>
                    <a:pt x="0" y="0"/>
                  </a:moveTo>
                  <a:lnTo>
                    <a:pt x="596361" y="0"/>
                  </a:lnTo>
                  <a:lnTo>
                    <a:pt x="59636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BB0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96361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692808" y="0"/>
            <a:ext cx="2264308" cy="10287000"/>
            <a:chOff x="0" y="0"/>
            <a:chExt cx="596361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361" cy="2709333"/>
            </a:xfrm>
            <a:custGeom>
              <a:avLst/>
              <a:gdLst/>
              <a:ahLst/>
              <a:cxnLst/>
              <a:rect r="r" b="b" t="t" l="l"/>
              <a:pathLst>
                <a:path h="2709333" w="596361">
                  <a:moveTo>
                    <a:pt x="0" y="0"/>
                  </a:moveTo>
                  <a:lnTo>
                    <a:pt x="596361" y="0"/>
                  </a:lnTo>
                  <a:lnTo>
                    <a:pt x="59636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B6444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596361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2051" y="111627"/>
            <a:ext cx="4369949" cy="4815370"/>
          </a:xfrm>
          <a:custGeom>
            <a:avLst/>
            <a:gdLst/>
            <a:ahLst/>
            <a:cxnLst/>
            <a:rect r="r" b="b" t="t" l="l"/>
            <a:pathLst>
              <a:path h="4815370" w="4369949">
                <a:moveTo>
                  <a:pt x="0" y="0"/>
                </a:moveTo>
                <a:lnTo>
                  <a:pt x="4369949" y="0"/>
                </a:lnTo>
                <a:lnTo>
                  <a:pt x="4369949" y="4815370"/>
                </a:lnTo>
                <a:lnTo>
                  <a:pt x="0" y="4815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1104" y="3206659"/>
            <a:ext cx="7480604" cy="4089783"/>
          </a:xfrm>
          <a:custGeom>
            <a:avLst/>
            <a:gdLst/>
            <a:ahLst/>
            <a:cxnLst/>
            <a:rect r="r" b="b" t="t" l="l"/>
            <a:pathLst>
              <a:path h="4089783" w="7480604">
                <a:moveTo>
                  <a:pt x="0" y="0"/>
                </a:moveTo>
                <a:lnTo>
                  <a:pt x="7480604" y="0"/>
                </a:lnTo>
                <a:lnTo>
                  <a:pt x="7480604" y="4089783"/>
                </a:lnTo>
                <a:lnTo>
                  <a:pt x="0" y="4089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079" t="-12044" r="-22513" b="-2643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776260" y="1119907"/>
            <a:ext cx="9492565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4356A4"/>
                </a:solidFill>
                <a:latin typeface="Poppins Bold"/>
                <a:ea typeface="Poppins Bold"/>
                <a:cs typeface="Poppins Bold"/>
                <a:sym typeface="Poppins Bold"/>
              </a:rPr>
              <a:t>Video Completion Rate</a:t>
            </a:r>
          </a:p>
          <a:p>
            <a:pPr algn="l">
              <a:lnSpc>
                <a:spcPts val="900"/>
              </a:lnSpc>
            </a:p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CTV: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93%+ VCR (vs. 85% industry standard)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OLV: 70%+ (exceeding industry standard average of 55%)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66735" y="2629826"/>
            <a:ext cx="9492565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4356A4"/>
                </a:solidFill>
                <a:latin typeface="Poppins Bold"/>
                <a:ea typeface="Poppins Bold"/>
                <a:cs typeface="Poppins Bold"/>
                <a:sym typeface="Poppins Bold"/>
              </a:rPr>
              <a:t>CTR Performance</a:t>
            </a:r>
          </a:p>
          <a:p>
            <a:pPr algn="l">
              <a:lnSpc>
                <a:spcPts val="900"/>
              </a:lnSpc>
            </a:p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OLV:</a:t>
            </a: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 0.2%+ (vs. 0.1% industry standard)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Display</a:t>
            </a: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: 0.3%+ (vs. 0.2% industry standard)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66735" y="4139745"/>
            <a:ext cx="9492565" cy="127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4356A4"/>
                </a:solidFill>
                <a:latin typeface="Poppins Bold"/>
                <a:ea typeface="Poppins Bold"/>
                <a:cs typeface="Poppins Bold"/>
                <a:sym typeface="Poppins Bold"/>
              </a:rPr>
              <a:t>Precision Targeting</a:t>
            </a:r>
          </a:p>
          <a:p>
            <a:pPr algn="l">
              <a:lnSpc>
                <a:spcPts val="900"/>
              </a:lnSpc>
            </a:p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Delivered</a:t>
            </a: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 on lifestyle and fashion-focused platforms to ensure contextual relevance. 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Targets high-intent users and premium shoppers through smart filters.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66735" y="8016833"/>
            <a:ext cx="9492565" cy="127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4356A4"/>
                </a:solidFill>
                <a:latin typeface="Poppins Bold"/>
                <a:ea typeface="Poppins Bold"/>
                <a:cs typeface="Poppins Bold"/>
                <a:sym typeface="Poppins Bold"/>
              </a:rPr>
              <a:t>Powerful Format Offerings</a:t>
            </a:r>
          </a:p>
          <a:p>
            <a:pPr algn="l">
              <a:lnSpc>
                <a:spcPts val="900"/>
              </a:lnSpc>
            </a:p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Connected TV: Interactive, screen-dominant storytelling with QR-led actions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Video: High-quality storytelling and product integration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Mobile Rich Media: Immersive, hands-on formats that drive brand recall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66735" y="5935414"/>
            <a:ext cx="9492565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4356A4"/>
                </a:solidFill>
                <a:latin typeface="Poppins Bold"/>
                <a:ea typeface="Poppins Bold"/>
                <a:cs typeface="Poppins Bold"/>
                <a:sym typeface="Poppins Bold"/>
              </a:rPr>
              <a:t>Guaranteed Delivery &amp; Measurable Impact </a:t>
            </a:r>
          </a:p>
          <a:p>
            <a:pPr algn="l">
              <a:lnSpc>
                <a:spcPts val="900"/>
              </a:lnSpc>
            </a:pP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Every campaign comes with minimum impression</a:t>
            </a: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 commitment to ensure promise</a:t>
            </a: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d </a:t>
            </a: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visibility.</a:t>
            </a:r>
          </a:p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20130E"/>
                </a:solidFill>
                <a:latin typeface="Poppins"/>
                <a:ea typeface="Poppins"/>
                <a:cs typeface="Poppins"/>
                <a:sym typeface="Poppins"/>
              </a:rPr>
              <a:t>Access real-time performance through live dashboards for transparent, data-driven optimisation.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7908" y="7262453"/>
            <a:ext cx="6282884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spc="-375" b="true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Festive Wins,</a:t>
            </a:r>
          </a:p>
          <a:p>
            <a:pPr algn="l">
              <a:lnSpc>
                <a:spcPts val="7500"/>
              </a:lnSpc>
            </a:pPr>
            <a:r>
              <a:rPr lang="en-US" sz="7500" spc="-375" b="true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Delivered.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7519228" y="275804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97908" y="9331273"/>
            <a:ext cx="9377184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b="true" sz="2499" spc="124">
                <a:solidFill>
                  <a:srgbClr val="B64442"/>
                </a:solidFill>
                <a:latin typeface="Poppins Bold"/>
                <a:ea typeface="Poppins Bold"/>
                <a:cs typeface="Poppins Bold"/>
                <a:sym typeface="Poppins Bold"/>
              </a:rPr>
              <a:t>SCROLL SE SALE TAK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56A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86998" y="979714"/>
            <a:ext cx="11201002" cy="8098649"/>
          </a:xfrm>
          <a:custGeom>
            <a:avLst/>
            <a:gdLst/>
            <a:ahLst/>
            <a:cxnLst/>
            <a:rect r="r" b="b" t="t" l="l"/>
            <a:pathLst>
              <a:path h="8098649" w="11201002">
                <a:moveTo>
                  <a:pt x="0" y="0"/>
                </a:moveTo>
                <a:lnTo>
                  <a:pt x="11201002" y="0"/>
                </a:lnTo>
                <a:lnTo>
                  <a:pt x="11201002" y="8098650"/>
                </a:lnTo>
                <a:lnTo>
                  <a:pt x="0" y="8098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874" t="-10729" r="-5411" b="-1855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4228" y="275804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4228" y="9583090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89728" y="275804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89728" y="9583090"/>
            <a:ext cx="394543" cy="428107"/>
          </a:xfrm>
          <a:custGeom>
            <a:avLst/>
            <a:gdLst/>
            <a:ahLst/>
            <a:cxnLst/>
            <a:rect r="r" b="b" t="t" l="l"/>
            <a:pathLst>
              <a:path h="428107" w="394543">
                <a:moveTo>
                  <a:pt x="0" y="0"/>
                </a:moveTo>
                <a:lnTo>
                  <a:pt x="394544" y="0"/>
                </a:lnTo>
                <a:lnTo>
                  <a:pt x="394544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618309" cy="400750"/>
          </a:xfrm>
          <a:custGeom>
            <a:avLst/>
            <a:gdLst/>
            <a:ahLst/>
            <a:cxnLst/>
            <a:rect r="r" b="b" t="t" l="l"/>
            <a:pathLst>
              <a:path h="400750" w="1618309">
                <a:moveTo>
                  <a:pt x="0" y="0"/>
                </a:moveTo>
                <a:lnTo>
                  <a:pt x="1618309" y="0"/>
                </a:lnTo>
                <a:lnTo>
                  <a:pt x="1618309" y="400750"/>
                </a:lnTo>
                <a:lnTo>
                  <a:pt x="0" y="400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4575" r="0" b="-14924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735209"/>
            <a:ext cx="1293101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REDEFINING CUSTOMER EXPERIENCES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3035300"/>
            <a:ext cx="8814705" cy="4216399"/>
            <a:chOff x="0" y="0"/>
            <a:chExt cx="11752940" cy="5621866"/>
          </a:xfrm>
        </p:grpSpPr>
        <p:sp>
          <p:nvSpPr>
            <p:cNvPr name="Freeform 10" id="10"/>
            <p:cNvSpPr/>
            <p:nvPr/>
          </p:nvSpPr>
          <p:spPr>
            <a:xfrm flipH="false" flipV="false" rot="-5400000">
              <a:off x="3065537" y="-3065537"/>
              <a:ext cx="5621866" cy="11752940"/>
            </a:xfrm>
            <a:custGeom>
              <a:avLst/>
              <a:gdLst/>
              <a:ahLst/>
              <a:cxnLst/>
              <a:rect r="r" b="b" t="t" l="l"/>
              <a:pathLst>
                <a:path h="11752940" w="5621866">
                  <a:moveTo>
                    <a:pt x="0" y="0"/>
                  </a:moveTo>
                  <a:lnTo>
                    <a:pt x="5621866" y="0"/>
                  </a:lnTo>
                  <a:lnTo>
                    <a:pt x="5621866" y="11752940"/>
                  </a:lnTo>
                  <a:lnTo>
                    <a:pt x="0" y="11752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634" t="-3330" r="-119160" b="-627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12646" y="2351465"/>
              <a:ext cx="9127648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00"/>
                </a:lnSpc>
              </a:pPr>
              <a:r>
                <a:rPr lang="en-US" b="true" sz="7500" spc="-375">
                  <a:solidFill>
                    <a:srgbClr val="FBB04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YOU!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8835462"/>
            <a:ext cx="485802" cy="485802"/>
          </a:xfrm>
          <a:custGeom>
            <a:avLst/>
            <a:gdLst/>
            <a:ahLst/>
            <a:cxnLst/>
            <a:rect r="r" b="b" t="t" l="l"/>
            <a:pathLst>
              <a:path h="485802" w="485802">
                <a:moveTo>
                  <a:pt x="0" y="0"/>
                </a:moveTo>
                <a:lnTo>
                  <a:pt x="485802" y="0"/>
                </a:lnTo>
                <a:lnTo>
                  <a:pt x="485802" y="485803"/>
                </a:lnTo>
                <a:lnTo>
                  <a:pt x="0" y="4858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14502" y="8899294"/>
            <a:ext cx="256346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9" tooltip="mailto:hello@vdo.ai"/>
              </a:rPr>
              <a:t>hello@vdo.ai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DAGsrDCHSmk</dc:identifier>
  <dcterms:modified xsi:type="dcterms:W3CDTF">2011-08-01T06:04:30Z</dcterms:modified>
  <cp:revision>1</cp:revision>
  <dc:title>Festivities with VDOAI</dc:title>
</cp:coreProperties>
</file>